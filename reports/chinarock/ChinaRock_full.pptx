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439" r:id="rId3"/>
    <p:sldId id="440" r:id="rId5"/>
    <p:sldId id="545" r:id="rId6"/>
    <p:sldId id="467" r:id="rId7"/>
    <p:sldId id="557" r:id="rId8"/>
    <p:sldId id="565" r:id="rId9"/>
    <p:sldId id="546" r:id="rId10"/>
    <p:sldId id="547" r:id="rId11"/>
    <p:sldId id="558" r:id="rId12"/>
    <p:sldId id="559" r:id="rId13"/>
    <p:sldId id="560" r:id="rId14"/>
    <p:sldId id="561" r:id="rId15"/>
    <p:sldId id="562" r:id="rId16"/>
    <p:sldId id="563" r:id="rId17"/>
    <p:sldId id="564" r:id="rId18"/>
    <p:sldId id="566" r:id="rId19"/>
    <p:sldId id="567" r:id="rId20"/>
    <p:sldId id="568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  <p:sldId id="579" r:id="rId32"/>
    <p:sldId id="580" r:id="rId33"/>
    <p:sldId id="581" r:id="rId34"/>
    <p:sldId id="582" r:id="rId35"/>
    <p:sldId id="583" r:id="rId36"/>
    <p:sldId id="584" r:id="rId37"/>
    <p:sldId id="585" r:id="rId38"/>
    <p:sldId id="586" r:id="rId39"/>
    <p:sldId id="587" r:id="rId40"/>
    <p:sldId id="466" r:id="rId41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39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dn2018@126.com" initials="z" lastIdx="1" clrIdx="0"/>
  <p:cmAuthor id="1" name="Administrator" initials="A" lastIdx="1" clrIdx="0"/>
  <p:cmAuthor id="2" name="作者" initials="A" lastIdx="0" clrIdx="1"/>
  <p:cmAuthor id="3" name="Nick Smith" initials="NS" lastIdx="1" clrIdx="2"/>
  <p:cmAuthor id="4" name="15327" initials="1" lastIdx="1" clrIdx="3"/>
  <p:cmAuthor id="5" name="Deng Wenhao" initials="DW" lastIdx="20" clrIdx="4"/>
  <p:cmAuthor id="6" name="Weixing Zhang" initials="WZ" lastIdx="4" clrIdx="5"/>
  <p:cmAuthor id="8" name="Surface" initials="S" lastIdx="1" clrIdx="7"/>
  <p:cmAuthor id="9" name="L" initials="xlliu" lastIdx="0" clrIdx="8"/>
  <p:cmAuthor id="10" name="Jie Luo" initials="JL" lastIdx="0" clrIdx="9"/>
  <p:cmAuthor id="11" name="J" initials="J" lastIdx="0" clrIdx="10"/>
  <p:cmAuthor id="12" name="Windows 用户" initials="W用" lastIdx="0" clrIdx="11"/>
  <p:cmAuthor id="13" name="Hanaga" initials="H" lastIdx="0" clrIdx="12"/>
  <p:cmAuthor id="14" name="chengyuqing" initials="c" lastIdx="0" clrIdx="13"/>
  <p:cmAuthor id="15" name="zhang" initials="z" lastIdx="0" clrIdx="14"/>
  <p:cmAuthor id="16" name="Chao Zhao" initials="Z" lastIdx="0" clrIdx="1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9B887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3"/>
        <p:guide pos="39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滑坡类IoU（%）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滑坡类IoU（%）</c:f>
              <c:strCache>
                <c:ptCount val="1"/>
                <c:pt idx="0">
                  <c:v>滑坡类IoU（%）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FCN</c:v>
                </c:pt>
                <c:pt idx="1">
                  <c:v>U-Net</c:v>
                </c:pt>
                <c:pt idx="2">
                  <c:v>DeepLab</c:v>
                </c:pt>
                <c:pt idx="3">
                  <c:v>LS-FPSAM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40.912</c:v>
                </c:pt>
                <c:pt idx="1">
                  <c:v>44.089</c:v>
                </c:pt>
                <c:pt idx="2">
                  <c:v>53.682</c:v>
                </c:pt>
                <c:pt idx="3">
                  <c:v>63.32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FCFC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9525" cap="flat" cmpd="sng" algn="ctr">
              <a:solidFill>
                <a:srgbClr val="CFCFCF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f22f86d-9786-43bc-a7f9-18271c5e13b1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验证集F1（%）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验证集F1（%）</c:f>
              <c:strCache>
                <c:ptCount val="1"/>
                <c:pt idx="0">
                  <c:v>验证集F1（%）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仅解码器</c:v>
                </c:pt>
                <c:pt idx="1">
                  <c:v>Adapter</c:v>
                </c:pt>
                <c:pt idx="2">
                  <c:v>MC-ROI</c:v>
                </c:pt>
                <c:pt idx="3">
                  <c:v>完整配置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64.65</c:v>
                </c:pt>
                <c:pt idx="1">
                  <c:v>73.08</c:v>
                </c:pt>
                <c:pt idx="2">
                  <c:v>67.35</c:v>
                </c:pt>
                <c:pt idx="3">
                  <c:v>74.49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FCFC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w="9525" cap="flat" cmpd="sng" algn="ctr">
              <a:solidFill>
                <a:srgbClr val="CFCFCF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2de4faa7-470d-4faf-8871-6d14f7df14de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滑坡类IoU（%）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滑坡类IoU（%）</c:f>
              <c:strCache>
                <c:ptCount val="1"/>
                <c:pt idx="0">
                  <c:v>滑坡类IoU（%）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FCN</c:v>
                </c:pt>
                <c:pt idx="1">
                  <c:v>U-Net</c:v>
                </c:pt>
                <c:pt idx="2">
                  <c:v>DLv3+</c:v>
                </c:pt>
                <c:pt idx="3">
                  <c:v>SAM</c:v>
                </c:pt>
                <c:pt idx="4">
                  <c:v>LS</c:v>
                </c:pt>
                <c:pt idx="5">
                  <c:v>SCF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48.7</c:v>
                </c:pt>
                <c:pt idx="1">
                  <c:v>50.6</c:v>
                </c:pt>
                <c:pt idx="2">
                  <c:v>51.2</c:v>
                </c:pt>
                <c:pt idx="3">
                  <c:v>52.8</c:v>
                </c:pt>
                <c:pt idx="4">
                  <c:v>52.7</c:v>
                </c:pt>
                <c:pt idx="5">
                  <c:v>55.7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FCFC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 cap="flat" cmpd="sng" algn="ctr">
              <a:solidFill>
                <a:srgbClr val="CFCFCF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7912cd3-17b9-4a95-bcbc-07c6c98a0a02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E636-B4D4-48FA-90D8-AADFE33F7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【场景与问题】</a:t>
            </a:r>
          </a:p>
          <a:p>
            <a:r>
              <a:t>主线：通用视觉大模型从基础概念，经领域适配、自动提示、无外部提示推理和语义与变化协同，最终封装成制图智能体。本页承接第28页，说明封装的必要性，而非新增一种分割模型。</a:t>
            </a:r>
          </a:p>
          <a:p>
            <a:r>
              <a:t>已有模型可以从灾后影像得到概率图和掩膜，但区域滑坡制图还需影像检查、切片拼接、空间矢量化、质量复核和成果生成。智能体的研究问题是如何把这些能力组织成可检查的任务流程。</a:t>
            </a:r>
          </a:p>
          <a:p>
            <a:r>
              <a:t>真实影像与预测掩膜直接取自原报告第27页北京事件实验，仅展示单个样本，不代表区域制图已完成。</a:t>
            </a:r>
          </a:p>
          <a:p>
            <a:r>
              <a:t>版式说明：尚未获得杭州交流PPT；当前采用与原报告协调的黑、红、蓝学术汇报版式。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【改进的方法：智能体封装方案，非已完成系统】</a:t>
            </a:r>
          </a:p>
          <a:p>
            <a:r>
              <a:t>1. 用户提供研究区域、事件时间、输入数据及成果要求。智能体生成结构化任务计划，检查输入条件并路由到适合的滑坡模型。</a:t>
            </a:r>
          </a:p>
          <a:p>
            <a:r>
              <a:t>2. 遥感预处理工具检查覆盖范围、坐标系、波段和分辨率，按需配准、归一化与切片。</a:t>
            </a:r>
          </a:p>
          <a:p>
            <a:r>
              <a:t>3. 分割工具加载登记的模型权重、输入规范与已有验证条件，输出概率图和掩膜。数值计算与空间计算由专业工具执行。</a:t>
            </a:r>
          </a:p>
          <a:p>
            <a:r>
              <a:t>4. GIS工具拼接、矢量化并计算面积；质检步骤检查异常斑块、漏检、误检和边界，必要时人工复核。</a:t>
            </a:r>
          </a:p>
          <a:p>
            <a:r>
              <a:t>5. 各步骤记录输入、参数、模型版本、输出和状态；失败后从成功检查点续跑，保留人工修订记录。</a:t>
            </a:r>
          </a:p>
          <a:p>
            <a:r>
              <a:t>开发与验证目标是任务可追溯、接口匹配、异常可恢复。原报告没有给出已部署智能体或端到端任务验证结果，因此本页按拟议架构呈现，不宣称这些功能已实现。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【实验结果展示：已有模型证据】</a:t>
            </a:r>
          </a:p>
          <a:p>
            <a:r>
              <a:t>数据来源：用户提供的China Rock报告第27页；北京“23·7”暴雨场景，SCF-SAM采用配准双时相输入。展示的灾后影像、真实标签和模型预测均复用原报告中的同一样本。</a:t>
            </a:r>
          </a:p>
          <a:p>
            <a:r>
              <a:t>原报告给出的SCF-SAM指标为F1 71.5%、滑坡IoU 55.7%、mIoU 74.8%；mIoU不能改称滑坡IoU，也不等价于区域制图任务成功率。图中仅突出mIoU，其余指标留作讲解。</a:t>
            </a:r>
          </a:p>
          <a:p>
            <a:r>
              <a:t>本页支撑的是可封装模型的分割能力，不是智能体端到端效果。原报告没有智能体任务完成率、耗时、人工修改量或恢复成功率，不能虚构这些结果。</a:t>
            </a:r>
          </a:p>
          <a:p>
            <a:r>
              <a:t>后续系统实验建议：固定代表性任务与输入，分别记录制图成功率、端到端耗时、复核修改量、异常恢复和成果一致性，并保留日志。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【使用条件与局限性讨论】</a:t>
            </a:r>
          </a:p>
          <a:p>
            <a:r>
              <a:t>单时相输入：LS-FPSAM利用频率残差提示；AB-SAM在训练阶段使用辅助框与非对称监督，推理阶段只保留灾后影像的无外部提示主分支。AB-SAM的无提示推理不意味着训练时也不需要双时相信息或真实标签。</a:t>
            </a:r>
          </a:p>
          <a:p>
            <a:r>
              <a:t>双时相输入：LF-SAM由变化信息自动生成候选区域；SCF-SAM将语义与变化特征门控融合。要求配准、网格一致、覆盖完整及波段与分辨率匹配。LF-SAM关闭MC-ROI的单时相路径原报告亦有提及，但本页突出四项研究的主要适用路径。</a:t>
            </a:r>
          </a:p>
          <a:p>
            <a:r>
              <a:t>只有灾后影像可估计可见滑坡范围；认定本次事件“新增”滑坡需要灾前灾后证据，不能将现状分割直接等同于事件新增变化。</a:t>
            </a:r>
          </a:p>
          <a:p>
            <a:r>
              <a:t>新区域或新事件：先在小范围独立验证对象检出、边界及背景误检，再决定模型和阈值。地表域偏移、小目标、破碎边界、云影、配准误差和非滑坡变化仍限制可靠性。</a:t>
            </a:r>
          </a:p>
          <a:p>
            <a:r>
              <a:t>交付前保留人工质量复核；智能体负责编排与留痕，不承担无证据的自动结论。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.jpeg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jpeg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0" Type="http://schemas.openxmlformats.org/officeDocument/2006/relationships/notesSlide" Target="../notesSlides/notesSlide3.xml"/><Relationship Id="rId2" Type="http://schemas.openxmlformats.org/officeDocument/2006/relationships/tags" Target="../tags/tag83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.jpe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jpeg"/><Relationship Id="rId12" Type="http://schemas.openxmlformats.org/officeDocument/2006/relationships/image" Target="../media/image13.jpeg"/><Relationship Id="rId11" Type="http://schemas.openxmlformats.org/officeDocument/2006/relationships/image" Target="../media/image12.jpeg"/><Relationship Id="rId10" Type="http://schemas.openxmlformats.org/officeDocument/2006/relationships/image" Target="../media/image11.jpeg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1.jpe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tags" Target="../tags/tag86.xml"/><Relationship Id="rId3" Type="http://schemas.openxmlformats.org/officeDocument/2006/relationships/image" Target="../media/image3.jpe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3.jpe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3.jpe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3.jpeg"/><Relationship Id="rId2" Type="http://schemas.openxmlformats.org/officeDocument/2006/relationships/tags" Target="../tags/tag100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3.jpe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3.jpe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jpe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3.jpe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5.png"/><Relationship Id="rId3" Type="http://schemas.openxmlformats.org/officeDocument/2006/relationships/image" Target="../media/image3.jpe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25.png"/><Relationship Id="rId4" Type="http://schemas.openxmlformats.org/officeDocument/2006/relationships/image" Target="../media/image3.jpeg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25.png"/><Relationship Id="rId7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1.xml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tags" Target="../tags/tag153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2.xml"/><Relationship Id="rId6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76221" y="1769775"/>
            <a:ext cx="8015779" cy="2700371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2" rIns="91387" bIns="45692" rtlCol="0" anchor="ctr"/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43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视觉大模型在滑坡图像语义分割任务中的应用</a:t>
            </a:r>
            <a:endParaRPr lang="zh-CN" altLang="en-US" sz="43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从频率提示与领域适配到自动分割和语义变化协同</a:t>
            </a:r>
            <a:endParaRPr lang="zh-CN" altLang="en-US" sz="28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6395" y="4470400"/>
            <a:ext cx="7958455" cy="2305685"/>
          </a:xfrm>
          <a:prstGeom prst="rect">
            <a:avLst/>
          </a:prstGeom>
          <a:noFill/>
        </p:spPr>
        <p:txBody>
          <a:bodyPr wrap="square" lIns="91387" tIns="45692" rIns="91387" bIns="45692" rtlCol="0">
            <a:spAutoFit/>
          </a:bodyPr>
          <a:lstStyle/>
          <a:p>
            <a:pPr algn="ctr" defTabSz="913765"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汇报人：唐继婷</a:t>
            </a:r>
            <a:endParaRPr kumimoji="1" lang="zh-C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 defTabSz="913765"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中国矿业大学（北京）</a:t>
            </a:r>
            <a:endParaRPr kumimoji="1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 defTabSz="913765"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2026.10.</a:t>
            </a:r>
            <a:r>
              <a:rPr kumimoji="1"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kumimoji="1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2550" y="1608455"/>
            <a:ext cx="3969385" cy="3516630"/>
            <a:chOff x="326" y="2095"/>
            <a:chExt cx="5061" cy="475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" y="2095"/>
              <a:ext cx="5061" cy="475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00" y="308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易灾特征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66" y="232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综合遥感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34" y="559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点面双控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872" y="312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多模融合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872" y="472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人工智能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00" y="4723"/>
              <a:ext cx="1180" cy="9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创新思路</a:t>
              </a:r>
              <a:endParaRPr kumimoji="1" lang="zh-CN" altLang="en-US" sz="2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16" name="Picture 2" descr="校名-中国矿业大学（北京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6" y="98209"/>
            <a:ext cx="3936980" cy="81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8"/>
          <p:cNvSpPr/>
          <p:nvPr/>
        </p:nvSpPr>
        <p:spPr bwMode="auto">
          <a:xfrm>
            <a:off x="2608914" y="1173994"/>
            <a:ext cx="2345721" cy="1254112"/>
          </a:xfrm>
          <a:custGeom>
            <a:avLst/>
            <a:gdLst>
              <a:gd name="T0" fmla="*/ 994 w 994"/>
              <a:gd name="T1" fmla="*/ 212 h 424"/>
              <a:gd name="T2" fmla="*/ 497 w 994"/>
              <a:gd name="T3" fmla="*/ 424 h 424"/>
              <a:gd name="T4" fmla="*/ 0 w 994"/>
              <a:gd name="T5" fmla="*/ 212 h 424"/>
              <a:gd name="T6" fmla="*/ 497 w 994"/>
              <a:gd name="T7" fmla="*/ 0 h 424"/>
              <a:gd name="T8" fmla="*/ 994 w 994"/>
              <a:gd name="T9" fmla="*/ 212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4" h="424">
                <a:moveTo>
                  <a:pt x="994" y="212"/>
                </a:moveTo>
                <a:lnTo>
                  <a:pt x="497" y="424"/>
                </a:lnTo>
                <a:lnTo>
                  <a:pt x="0" y="212"/>
                </a:lnTo>
                <a:lnTo>
                  <a:pt x="497" y="0"/>
                </a:lnTo>
                <a:lnTo>
                  <a:pt x="994" y="21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16" tIns="45656" rIns="91316" bIns="45656" numCol="1" anchor="t" anchorCtr="0" compatLnSpc="1"/>
          <a:lstStyle/>
          <a:p>
            <a:pPr defTabSz="913765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2008" y="109796"/>
            <a:ext cx="2283204" cy="646331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defTabSz="913765"/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汇报提纲</a:t>
            </a:r>
            <a:endParaRPr lang="zh-CN" altLang="en-US" sz="3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-4988" y="-4258"/>
            <a:ext cx="349829" cy="87771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66" tIns="45681" rIns="91366" bIns="45681" rtlCol="0" anchor="ctr"/>
          <a:lstStyle/>
          <a:p>
            <a:pPr algn="ctr" defTabSz="608330"/>
            <a:endParaRPr kumimoji="1" lang="zh-CN" altLang="en-US" sz="2400">
              <a:solidFill>
                <a:srgbClr val="1E2327"/>
              </a:solidFill>
            </a:endParaRPr>
          </a:p>
        </p:txBody>
      </p:sp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257810" y="1555115"/>
            <a:ext cx="12005310" cy="3850005"/>
            <a:chOff x="3920" y="2559"/>
            <a:chExt cx="18138" cy="6063"/>
          </a:xfrm>
        </p:grpSpPr>
        <p:grpSp>
          <p:nvGrpSpPr>
            <p:cNvPr id="2" name="组合 21"/>
            <p:cNvGrpSpPr/>
            <p:nvPr>
              <p:custDataLst>
                <p:tags r:id="rId2"/>
              </p:custDataLst>
            </p:nvPr>
          </p:nvGrpSpPr>
          <p:grpSpPr>
            <a:xfrm>
              <a:off x="3936" y="6607"/>
              <a:ext cx="3425" cy="2015"/>
              <a:chOff x="3910426" y="2175923"/>
              <a:chExt cx="4371361" cy="2603538"/>
            </a:xfrm>
          </p:grpSpPr>
          <p:sp>
            <p:nvSpPr>
              <p:cNvPr id="3" name="Freeform 22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3910426" y="2175923"/>
                <a:ext cx="4371361" cy="2347019"/>
              </a:xfrm>
              <a:custGeom>
                <a:avLst/>
                <a:gdLst>
                  <a:gd name="T0" fmla="*/ 994 w 994"/>
                  <a:gd name="T1" fmla="*/ 212 h 424"/>
                  <a:gd name="T2" fmla="*/ 497 w 994"/>
                  <a:gd name="T3" fmla="*/ 424 h 424"/>
                  <a:gd name="T4" fmla="*/ 0 w 994"/>
                  <a:gd name="T5" fmla="*/ 212 h 424"/>
                  <a:gd name="T6" fmla="*/ 497 w 994"/>
                  <a:gd name="T7" fmla="*/ 0 h 424"/>
                  <a:gd name="T8" fmla="*/ 994 w 99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4" h="424">
                    <a:moveTo>
                      <a:pt x="994" y="212"/>
                    </a:moveTo>
                    <a:lnTo>
                      <a:pt x="497" y="424"/>
                    </a:lnTo>
                    <a:lnTo>
                      <a:pt x="0" y="212"/>
                    </a:lnTo>
                    <a:lnTo>
                      <a:pt x="497" y="0"/>
                    </a:lnTo>
                    <a:lnTo>
                      <a:pt x="994" y="212"/>
                    </a:lnTo>
                    <a:close/>
                  </a:path>
                </a:pathLst>
              </a:custGeom>
              <a:solidFill>
                <a:srgbClr val="EE1C39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" name="Freeform 2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6099335" y="3340251"/>
                <a:ext cx="2176887" cy="1439210"/>
              </a:xfrm>
              <a:custGeom>
                <a:avLst/>
                <a:gdLst>
                  <a:gd name="T0" fmla="*/ 495 w 495"/>
                  <a:gd name="T1" fmla="*/ 0 h 260"/>
                  <a:gd name="T2" fmla="*/ 0 w 495"/>
                  <a:gd name="T3" fmla="*/ 212 h 260"/>
                  <a:gd name="T4" fmla="*/ 0 w 495"/>
                  <a:gd name="T5" fmla="*/ 260 h 260"/>
                  <a:gd name="T6" fmla="*/ 495 w 495"/>
                  <a:gd name="T7" fmla="*/ 47 h 260"/>
                  <a:gd name="T8" fmla="*/ 495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495" y="0"/>
                    </a:moveTo>
                    <a:lnTo>
                      <a:pt x="0" y="212"/>
                    </a:lnTo>
                    <a:lnTo>
                      <a:pt x="0" y="260"/>
                    </a:lnTo>
                    <a:lnTo>
                      <a:pt x="495" y="47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98141D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" name="Freeform 2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922449" y="3335880"/>
                <a:ext cx="2176887" cy="1439209"/>
              </a:xfrm>
              <a:custGeom>
                <a:avLst/>
                <a:gdLst>
                  <a:gd name="T0" fmla="*/ 0 w 495"/>
                  <a:gd name="T1" fmla="*/ 0 h 260"/>
                  <a:gd name="T2" fmla="*/ 495 w 495"/>
                  <a:gd name="T3" fmla="*/ 212 h 260"/>
                  <a:gd name="T4" fmla="*/ 495 w 495"/>
                  <a:gd name="T5" fmla="*/ 260 h 260"/>
                  <a:gd name="T6" fmla="*/ 0 w 495"/>
                  <a:gd name="T7" fmla="*/ 47 h 260"/>
                  <a:gd name="T8" fmla="*/ 0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0" y="0"/>
                    </a:moveTo>
                    <a:lnTo>
                      <a:pt x="495" y="212"/>
                    </a:lnTo>
                    <a:lnTo>
                      <a:pt x="495" y="260"/>
                    </a:ln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141D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5" name="Freeform 23"/>
            <p:cNvSpPr/>
            <p:nvPr/>
          </p:nvSpPr>
          <p:spPr bwMode="auto">
            <a:xfrm>
              <a:off x="4025" y="5846"/>
              <a:ext cx="3694" cy="1975"/>
            </a:xfrm>
            <a:custGeom>
              <a:avLst/>
              <a:gdLst>
                <a:gd name="T0" fmla="*/ 994 w 994"/>
                <a:gd name="T1" fmla="*/ 212 h 424"/>
                <a:gd name="T2" fmla="*/ 497 w 994"/>
                <a:gd name="T3" fmla="*/ 424 h 424"/>
                <a:gd name="T4" fmla="*/ 0 w 994"/>
                <a:gd name="T5" fmla="*/ 212 h 424"/>
                <a:gd name="T6" fmla="*/ 497 w 994"/>
                <a:gd name="T7" fmla="*/ 0 h 424"/>
                <a:gd name="T8" fmla="*/ 994 w 99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4" h="424">
                  <a:moveTo>
                    <a:pt x="994" y="212"/>
                  </a:moveTo>
                  <a:lnTo>
                    <a:pt x="497" y="424"/>
                  </a:lnTo>
                  <a:lnTo>
                    <a:pt x="0" y="212"/>
                  </a:lnTo>
                  <a:lnTo>
                    <a:pt x="497" y="0"/>
                  </a:lnTo>
                  <a:lnTo>
                    <a:pt x="994" y="2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16" tIns="45656" rIns="91316" bIns="45656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8521" y="5249"/>
              <a:ext cx="13537" cy="1208"/>
            </a:xfrm>
            <a:prstGeom prst="rect">
              <a:avLst/>
            </a:prstGeom>
            <a:noFill/>
          </p:spPr>
          <p:txBody>
            <a:bodyPr wrap="square" lIns="91316" tIns="45656" rIns="91316" bIns="45656" rtlCol="0">
              <a:spAutoFit/>
            </a:bodyPr>
            <a:lstStyle/>
            <a:p>
              <a:pPr defTabSz="913765"/>
              <a:r>
                <a:rPr lang="zh-CN" alt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二、基于</a:t>
              </a:r>
              <a:r>
                <a:rPr lang="en-US" altLang="zh-CN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LVM</a:t>
              </a:r>
              <a:r>
                <a:rPr lang="zh-CN" alt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的滑坡图像语义分割</a:t>
              </a:r>
              <a:endPara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109" y="4223"/>
              <a:ext cx="3694" cy="1980"/>
            </a:xfrm>
            <a:custGeom>
              <a:avLst/>
              <a:gdLst>
                <a:gd name="T0" fmla="*/ 994 w 994"/>
                <a:gd name="T1" fmla="*/ 213 h 425"/>
                <a:gd name="T2" fmla="*/ 497 w 994"/>
                <a:gd name="T3" fmla="*/ 425 h 425"/>
                <a:gd name="T4" fmla="*/ 0 w 994"/>
                <a:gd name="T5" fmla="*/ 213 h 425"/>
                <a:gd name="T6" fmla="*/ 497 w 994"/>
                <a:gd name="T7" fmla="*/ 0 h 425"/>
                <a:gd name="T8" fmla="*/ 994 w 994"/>
                <a:gd name="T9" fmla="*/ 213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4" h="425">
                  <a:moveTo>
                    <a:pt x="994" y="213"/>
                  </a:moveTo>
                  <a:lnTo>
                    <a:pt x="497" y="425"/>
                  </a:lnTo>
                  <a:lnTo>
                    <a:pt x="0" y="213"/>
                  </a:lnTo>
                  <a:lnTo>
                    <a:pt x="497" y="0"/>
                  </a:lnTo>
                  <a:lnTo>
                    <a:pt x="994" y="2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16" tIns="45656" rIns="91316" bIns="45656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4109" y="3513"/>
              <a:ext cx="3694" cy="1980"/>
            </a:xfrm>
            <a:custGeom>
              <a:avLst/>
              <a:gdLst>
                <a:gd name="T0" fmla="*/ 994 w 994"/>
                <a:gd name="T1" fmla="*/ 213 h 425"/>
                <a:gd name="T2" fmla="*/ 497 w 994"/>
                <a:gd name="T3" fmla="*/ 425 h 425"/>
                <a:gd name="T4" fmla="*/ 0 w 994"/>
                <a:gd name="T5" fmla="*/ 213 h 425"/>
                <a:gd name="T6" fmla="*/ 497 w 994"/>
                <a:gd name="T7" fmla="*/ 0 h 425"/>
                <a:gd name="T8" fmla="*/ 994 w 994"/>
                <a:gd name="T9" fmla="*/ 213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4" h="425">
                  <a:moveTo>
                    <a:pt x="994" y="213"/>
                  </a:moveTo>
                  <a:lnTo>
                    <a:pt x="497" y="425"/>
                  </a:lnTo>
                  <a:lnTo>
                    <a:pt x="0" y="213"/>
                  </a:lnTo>
                  <a:lnTo>
                    <a:pt x="497" y="0"/>
                  </a:lnTo>
                  <a:lnTo>
                    <a:pt x="994" y="2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16" tIns="45656" rIns="91316" bIns="45656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4109" y="2559"/>
              <a:ext cx="3694" cy="1975"/>
            </a:xfrm>
            <a:custGeom>
              <a:avLst/>
              <a:gdLst>
                <a:gd name="T0" fmla="*/ 994 w 994"/>
                <a:gd name="T1" fmla="*/ 212 h 424"/>
                <a:gd name="T2" fmla="*/ 497 w 994"/>
                <a:gd name="T3" fmla="*/ 424 h 424"/>
                <a:gd name="T4" fmla="*/ 0 w 994"/>
                <a:gd name="T5" fmla="*/ 212 h 424"/>
                <a:gd name="T6" fmla="*/ 497 w 994"/>
                <a:gd name="T7" fmla="*/ 0 h 424"/>
                <a:gd name="T8" fmla="*/ 994 w 99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4" h="424">
                  <a:moveTo>
                    <a:pt x="994" y="212"/>
                  </a:moveTo>
                  <a:lnTo>
                    <a:pt x="497" y="424"/>
                  </a:lnTo>
                  <a:lnTo>
                    <a:pt x="0" y="212"/>
                  </a:lnTo>
                  <a:lnTo>
                    <a:pt x="497" y="0"/>
                  </a:lnTo>
                  <a:lnTo>
                    <a:pt x="994" y="2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16" tIns="45656" rIns="91316" bIns="45656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23" name="组合 18"/>
            <p:cNvGrpSpPr/>
            <p:nvPr>
              <p:custDataLst>
                <p:tags r:id="rId7"/>
              </p:custDataLst>
            </p:nvPr>
          </p:nvGrpSpPr>
          <p:grpSpPr>
            <a:xfrm>
              <a:off x="3930" y="4947"/>
              <a:ext cx="3425" cy="2018"/>
              <a:chOff x="3921371" y="2738055"/>
              <a:chExt cx="4371360" cy="2606919"/>
            </a:xfrm>
          </p:grpSpPr>
          <p:sp>
            <p:nvSpPr>
              <p:cNvPr id="24" name="Freeform 17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21371" y="2738055"/>
                <a:ext cx="4371360" cy="2352556"/>
              </a:xfrm>
              <a:custGeom>
                <a:avLst/>
                <a:gdLst>
                  <a:gd name="T0" fmla="*/ 994 w 994"/>
                  <a:gd name="T1" fmla="*/ 213 h 425"/>
                  <a:gd name="T2" fmla="*/ 497 w 994"/>
                  <a:gd name="T3" fmla="*/ 425 h 425"/>
                  <a:gd name="T4" fmla="*/ 0 w 994"/>
                  <a:gd name="T5" fmla="*/ 213 h 425"/>
                  <a:gd name="T6" fmla="*/ 497 w 994"/>
                  <a:gd name="T7" fmla="*/ 0 h 425"/>
                  <a:gd name="T8" fmla="*/ 994 w 994"/>
                  <a:gd name="T9" fmla="*/ 21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4" h="425">
                    <a:moveTo>
                      <a:pt x="994" y="213"/>
                    </a:moveTo>
                    <a:lnTo>
                      <a:pt x="497" y="425"/>
                    </a:lnTo>
                    <a:lnTo>
                      <a:pt x="0" y="213"/>
                    </a:lnTo>
                    <a:lnTo>
                      <a:pt x="497" y="0"/>
                    </a:lnTo>
                    <a:lnTo>
                      <a:pt x="994" y="213"/>
                    </a:lnTo>
                    <a:close/>
                  </a:path>
                </a:pathLst>
              </a:custGeom>
              <a:solidFill>
                <a:srgbClr val="383F4E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19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6107052" y="3905764"/>
                <a:ext cx="2176887" cy="1439209"/>
              </a:xfrm>
              <a:custGeom>
                <a:avLst/>
                <a:gdLst>
                  <a:gd name="T0" fmla="*/ 495 w 495"/>
                  <a:gd name="T1" fmla="*/ 0 h 260"/>
                  <a:gd name="T2" fmla="*/ 0 w 495"/>
                  <a:gd name="T3" fmla="*/ 212 h 260"/>
                  <a:gd name="T4" fmla="*/ 0 w 495"/>
                  <a:gd name="T5" fmla="*/ 260 h 260"/>
                  <a:gd name="T6" fmla="*/ 495 w 495"/>
                  <a:gd name="T7" fmla="*/ 47 h 260"/>
                  <a:gd name="T8" fmla="*/ 495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495" y="0"/>
                    </a:moveTo>
                    <a:lnTo>
                      <a:pt x="0" y="212"/>
                    </a:lnTo>
                    <a:lnTo>
                      <a:pt x="0" y="260"/>
                    </a:lnTo>
                    <a:lnTo>
                      <a:pt x="495" y="47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282D38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21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3930166" y="3905764"/>
                <a:ext cx="2176887" cy="1439210"/>
              </a:xfrm>
              <a:custGeom>
                <a:avLst/>
                <a:gdLst>
                  <a:gd name="T0" fmla="*/ 0 w 495"/>
                  <a:gd name="T1" fmla="*/ 0 h 260"/>
                  <a:gd name="T2" fmla="*/ 495 w 495"/>
                  <a:gd name="T3" fmla="*/ 212 h 260"/>
                  <a:gd name="T4" fmla="*/ 495 w 495"/>
                  <a:gd name="T5" fmla="*/ 260 h 260"/>
                  <a:gd name="T6" fmla="*/ 0 w 495"/>
                  <a:gd name="T7" fmla="*/ 47 h 260"/>
                  <a:gd name="T8" fmla="*/ 0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0" y="0"/>
                    </a:moveTo>
                    <a:lnTo>
                      <a:pt x="495" y="212"/>
                    </a:lnTo>
                    <a:lnTo>
                      <a:pt x="495" y="260"/>
                    </a:ln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D38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7" name="组合 21"/>
            <p:cNvGrpSpPr/>
            <p:nvPr>
              <p:custDataLst>
                <p:tags r:id="rId11"/>
              </p:custDataLst>
            </p:nvPr>
          </p:nvGrpSpPr>
          <p:grpSpPr>
            <a:xfrm>
              <a:off x="3920" y="3207"/>
              <a:ext cx="3425" cy="2015"/>
              <a:chOff x="3910426" y="2175923"/>
              <a:chExt cx="4371361" cy="2603538"/>
            </a:xfrm>
          </p:grpSpPr>
          <p:sp>
            <p:nvSpPr>
              <p:cNvPr id="28" name="Freeform 22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3910426" y="2175923"/>
                <a:ext cx="4371361" cy="2347019"/>
              </a:xfrm>
              <a:custGeom>
                <a:avLst/>
                <a:gdLst>
                  <a:gd name="T0" fmla="*/ 994 w 994"/>
                  <a:gd name="T1" fmla="*/ 212 h 424"/>
                  <a:gd name="T2" fmla="*/ 497 w 994"/>
                  <a:gd name="T3" fmla="*/ 424 h 424"/>
                  <a:gd name="T4" fmla="*/ 0 w 994"/>
                  <a:gd name="T5" fmla="*/ 212 h 424"/>
                  <a:gd name="T6" fmla="*/ 497 w 994"/>
                  <a:gd name="T7" fmla="*/ 0 h 424"/>
                  <a:gd name="T8" fmla="*/ 994 w 99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4" h="424">
                    <a:moveTo>
                      <a:pt x="994" y="212"/>
                    </a:moveTo>
                    <a:lnTo>
                      <a:pt x="497" y="424"/>
                    </a:lnTo>
                    <a:lnTo>
                      <a:pt x="0" y="212"/>
                    </a:lnTo>
                    <a:lnTo>
                      <a:pt x="497" y="0"/>
                    </a:lnTo>
                    <a:lnTo>
                      <a:pt x="994" y="212"/>
                    </a:lnTo>
                    <a:close/>
                  </a:path>
                </a:pathLst>
              </a:custGeom>
              <a:solidFill>
                <a:srgbClr val="EE1C39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24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6099335" y="3340251"/>
                <a:ext cx="2176887" cy="1439210"/>
              </a:xfrm>
              <a:custGeom>
                <a:avLst/>
                <a:gdLst>
                  <a:gd name="T0" fmla="*/ 495 w 495"/>
                  <a:gd name="T1" fmla="*/ 0 h 260"/>
                  <a:gd name="T2" fmla="*/ 0 w 495"/>
                  <a:gd name="T3" fmla="*/ 212 h 260"/>
                  <a:gd name="T4" fmla="*/ 0 w 495"/>
                  <a:gd name="T5" fmla="*/ 260 h 260"/>
                  <a:gd name="T6" fmla="*/ 495 w 495"/>
                  <a:gd name="T7" fmla="*/ 47 h 260"/>
                  <a:gd name="T8" fmla="*/ 495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495" y="0"/>
                    </a:moveTo>
                    <a:lnTo>
                      <a:pt x="0" y="212"/>
                    </a:lnTo>
                    <a:lnTo>
                      <a:pt x="0" y="260"/>
                    </a:lnTo>
                    <a:lnTo>
                      <a:pt x="495" y="47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98141D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26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22449" y="3335880"/>
                <a:ext cx="2176887" cy="1439209"/>
              </a:xfrm>
              <a:custGeom>
                <a:avLst/>
                <a:gdLst>
                  <a:gd name="T0" fmla="*/ 0 w 495"/>
                  <a:gd name="T1" fmla="*/ 0 h 260"/>
                  <a:gd name="T2" fmla="*/ 495 w 495"/>
                  <a:gd name="T3" fmla="*/ 212 h 260"/>
                  <a:gd name="T4" fmla="*/ 495 w 495"/>
                  <a:gd name="T5" fmla="*/ 260 h 260"/>
                  <a:gd name="T6" fmla="*/ 0 w 495"/>
                  <a:gd name="T7" fmla="*/ 47 h 260"/>
                  <a:gd name="T8" fmla="*/ 0 w 495"/>
                  <a:gd name="T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60">
                    <a:moveTo>
                      <a:pt x="0" y="0"/>
                    </a:moveTo>
                    <a:lnTo>
                      <a:pt x="495" y="212"/>
                    </a:lnTo>
                    <a:lnTo>
                      <a:pt x="495" y="260"/>
                    </a:ln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141D">
                  <a:alpha val="94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35" name="直接连接符 34"/>
            <p:cNvCxnSpPr/>
            <p:nvPr>
              <p:custDataLst>
                <p:tags r:id="rId15"/>
              </p:custDataLst>
            </p:nvPr>
          </p:nvCxnSpPr>
          <p:spPr>
            <a:xfrm>
              <a:off x="7340" y="5959"/>
              <a:ext cx="9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>
              <p:custDataLst>
                <p:tags r:id="rId16"/>
              </p:custDataLst>
            </p:nvPr>
          </p:nvCxnSpPr>
          <p:spPr>
            <a:xfrm>
              <a:off x="7329" y="4168"/>
              <a:ext cx="9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>
              <p:custDataLst>
                <p:tags r:id="rId17"/>
              </p:custDataLst>
            </p:nvPr>
          </p:nvSpPr>
          <p:spPr>
            <a:xfrm>
              <a:off x="8521" y="3537"/>
              <a:ext cx="11667" cy="1208"/>
            </a:xfrm>
            <a:prstGeom prst="rect">
              <a:avLst/>
            </a:prstGeom>
            <a:noFill/>
          </p:spPr>
          <p:txBody>
            <a:bodyPr wrap="square" lIns="91316" tIns="45656" rIns="91316" bIns="45656" rtlCol="0">
              <a:spAutoFit/>
            </a:bodyPr>
            <a:lstStyle/>
            <a:p>
              <a:pPr defTabSz="913765"/>
              <a:r>
                <a:rPr lang="zh-CN" alt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一、大模型与视觉大模型</a:t>
              </a:r>
              <a:r>
                <a:rPr lang="en-US" altLang="zh-CN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VLM</a:t>
              </a:r>
              <a:endParaRPr lang="en-US" altLang="zh-C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8"/>
              </p:custDataLst>
            </p:nvPr>
          </p:nvCxnSpPr>
          <p:spPr>
            <a:xfrm>
              <a:off x="7346" y="7567"/>
              <a:ext cx="90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>
              <p:custDataLst>
                <p:tags r:id="rId19"/>
              </p:custDataLst>
            </p:nvPr>
          </p:nvSpPr>
          <p:spPr>
            <a:xfrm>
              <a:off x="8537" y="6937"/>
              <a:ext cx="8767" cy="1208"/>
            </a:xfrm>
            <a:prstGeom prst="rect">
              <a:avLst/>
            </a:prstGeom>
            <a:noFill/>
          </p:spPr>
          <p:txBody>
            <a:bodyPr wrap="square" lIns="91316" tIns="45656" rIns="91316" bIns="45656" rtlCol="0">
              <a:spAutoFit/>
            </a:bodyPr>
            <a:lstStyle/>
            <a:p>
              <a:pPr defTabSz="913765"/>
              <a:r>
                <a:rPr lang="zh-CN" alt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三、思考与展望</a:t>
              </a:r>
              <a:endPara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2" name="图片 11" descr="校徽"/>
          <p:cNvPicPr>
            <a:picLocks noChangeAspect="1"/>
          </p:cNvPicPr>
          <p:nvPr/>
        </p:nvPicPr>
        <p:blipFill>
          <a:blip r:embed="rId20"/>
          <a:srcRect l="20434" t="19675" r="20108" b="21707"/>
          <a:stretch>
            <a:fillRect/>
          </a:stretch>
        </p:blipFill>
        <p:spPr>
          <a:xfrm>
            <a:off x="11264900" y="60960"/>
            <a:ext cx="735965" cy="709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（一）大模型与视觉大模型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" name="图片 5" descr="图形用户界面, 文本, 应用程序, 信件, 电子邮件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8" y="3526213"/>
            <a:ext cx="1516773" cy="913555"/>
          </a:xfrm>
          <a:prstGeom prst="rect">
            <a:avLst/>
          </a:prstGeom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2" t="4274" r="5562" b="55115"/>
          <a:stretch>
            <a:fillRect/>
          </a:stretch>
        </p:blipFill>
        <p:spPr bwMode="auto">
          <a:xfrm>
            <a:off x="8343682" y="4897731"/>
            <a:ext cx="1526003" cy="105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2" t="12880" r="23897" b="43070"/>
          <a:stretch>
            <a:fillRect/>
          </a:stretch>
        </p:blipFill>
        <p:spPr bwMode="auto">
          <a:xfrm>
            <a:off x="6159743" y="4968612"/>
            <a:ext cx="1633060" cy="98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255" y="3519894"/>
            <a:ext cx="1620236" cy="101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8" r="9428"/>
          <a:stretch>
            <a:fillRect/>
          </a:stretch>
        </p:blipFill>
        <p:spPr bwMode="auto">
          <a:xfrm>
            <a:off x="2243142" y="3517235"/>
            <a:ext cx="1633913" cy="116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499" y="3522153"/>
            <a:ext cx="1633913" cy="10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t="-792" r="19331" b="792"/>
          <a:stretch>
            <a:fillRect/>
          </a:stretch>
        </p:blipFill>
        <p:spPr bwMode="auto">
          <a:xfrm>
            <a:off x="4417926" y="4971660"/>
            <a:ext cx="1496483" cy="107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14972"/>
          <a:stretch>
            <a:fillRect/>
          </a:stretch>
        </p:blipFill>
        <p:spPr bwMode="auto">
          <a:xfrm>
            <a:off x="10080466" y="4897731"/>
            <a:ext cx="1642930" cy="118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888" y="3517235"/>
            <a:ext cx="1527430" cy="83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/>
          <p:nvPr/>
        </p:nvSpPr>
        <p:spPr>
          <a:xfrm>
            <a:off x="335362" y="2853620"/>
            <a:ext cx="3674937" cy="3791716"/>
          </a:xfrm>
          <a:prstGeom prst="rect">
            <a:avLst/>
          </a:prstGeom>
          <a:noFill/>
          <a:ln w="19050">
            <a:solidFill>
              <a:srgbClr val="191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5361" y="2861982"/>
            <a:ext cx="3674937" cy="4616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时空序列</a:t>
            </a: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0" y="3517235"/>
            <a:ext cx="1527430" cy="1169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0" y="4917981"/>
            <a:ext cx="1516133" cy="116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" t="36133" r="74456" b="38919"/>
          <a:stretch>
            <a:fillRect/>
          </a:stretch>
        </p:blipFill>
        <p:spPr>
          <a:xfrm>
            <a:off x="2149948" y="4917981"/>
            <a:ext cx="1704226" cy="120033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564791" y="2036371"/>
            <a:ext cx="3057247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kumimoji="1" lang="zh-CN" altLang="en-US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多模式异构数据</a:t>
            </a:r>
            <a:endParaRPr kumimoji="1" lang="zh-CN" altLang="en-US" sz="3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2773" y="1106411"/>
            <a:ext cx="11319181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      在人工智能、大数据和信息技术的结合方面，强调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多模态数据</a:t>
            </a:r>
            <a:r>
              <a:rPr lang="zh-CN" altLang="en-US" sz="24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的研究对于推动科技创新和应用的重要性。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330713" y="1591802"/>
            <a:ext cx="5251939" cy="43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——《</a:t>
            </a:r>
            <a:r>
              <a:rPr lang="zh-CN" alt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国家中长期科学和技术发展规划纲要</a:t>
            </a:r>
            <a:r>
              <a:rPr lang="en-US" altLang="zh-CN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7340" y="4347797"/>
            <a:ext cx="152743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隧道监测数据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43141" y="4347797"/>
            <a:ext cx="163391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医疗监测数据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7340" y="5743450"/>
            <a:ext cx="151613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交通监测数据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43994" y="5743450"/>
            <a:ext cx="163306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仿真数据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575550" y="6215252"/>
                <a:ext cx="1194558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1" lang="zh-CN" altLang="en-US" sz="1800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550" y="6215252"/>
                <a:ext cx="1194558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10" t="-137" r="20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4255948" y="2853620"/>
            <a:ext cx="3674937" cy="3791716"/>
          </a:xfrm>
          <a:prstGeom prst="rect">
            <a:avLst/>
          </a:prstGeom>
          <a:noFill/>
          <a:ln w="19050">
            <a:solidFill>
              <a:srgbClr val="191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255947" y="2861982"/>
            <a:ext cx="3674937" cy="4616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图像（多媒体）数据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417926" y="4347797"/>
            <a:ext cx="152743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隧道监控图像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63727" y="4347797"/>
            <a:ext cx="163391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医疗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CT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图像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17926" y="5743450"/>
            <a:ext cx="151613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交通监控图像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164580" y="5743450"/>
            <a:ext cx="163306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气象云图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496136" y="6215252"/>
                <a:ext cx="1816972" cy="3724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</m:t>
                          </m:r>
                        </m:sup>
                      </m:sSup>
                    </m:oMath>
                  </m:oMathPara>
                </a14:m>
                <a:endParaRPr kumimoji="1" lang="zh-CN" altLang="en-US" sz="1800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136" y="6215252"/>
                <a:ext cx="1816972" cy="372410"/>
              </a:xfrm>
              <a:prstGeom prst="rect">
                <a:avLst/>
              </a:prstGeom>
              <a:blipFill rotWithShape="1">
                <a:blip r:embed="rId16"/>
                <a:stretch>
                  <a:fillRect l="-12" t="-136" r="25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/>
          <p:cNvSpPr/>
          <p:nvPr/>
        </p:nvSpPr>
        <p:spPr>
          <a:xfrm>
            <a:off x="8181704" y="2854475"/>
            <a:ext cx="3674937" cy="3791716"/>
          </a:xfrm>
          <a:prstGeom prst="rect">
            <a:avLst/>
          </a:prstGeom>
          <a:noFill/>
          <a:ln w="19050">
            <a:solidFill>
              <a:srgbClr val="191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2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181703" y="2862837"/>
            <a:ext cx="3674937" cy="4616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文本数据（专家知识）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343682" y="4348652"/>
            <a:ext cx="152743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管理养护日志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089483" y="4348652"/>
            <a:ext cx="163391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临床诊断记录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343682" y="5744305"/>
            <a:ext cx="1516133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事件公告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090336" y="5744305"/>
            <a:ext cx="1633060" cy="338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气象预报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9421892" y="6216107"/>
                <a:ext cx="1168205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kumimoji="1" lang="zh-CN" altLang="en-US" sz="1800" dirty="0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892" y="6216107"/>
                <a:ext cx="1168205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34" t="-25" r="17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左大括号 44"/>
          <p:cNvSpPr/>
          <p:nvPr/>
        </p:nvSpPr>
        <p:spPr>
          <a:xfrm rot="5400000">
            <a:off x="6006274" y="-3072362"/>
            <a:ext cx="174279" cy="11521281"/>
          </a:xfrm>
          <a:prstGeom prst="leftBrace">
            <a:avLst>
              <a:gd name="adj1" fmla="val 47139"/>
              <a:gd name="adj2" fmla="val 50000"/>
            </a:avLst>
          </a:prstGeom>
          <a:ln w="28575">
            <a:solidFill>
              <a:srgbClr val="002060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18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大模型与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586720" y="60960"/>
            <a:ext cx="1413510" cy="756285"/>
            <a:chOff x="326" y="159"/>
            <a:chExt cx="2226" cy="1191"/>
          </a:xfrm>
        </p:grpSpPr>
        <p:pic>
          <p:nvPicPr>
            <p:cNvPr id="5" name="图片 4" descr="校徽"/>
            <p:cNvPicPr>
              <a:picLocks noChangeAspect="1"/>
            </p:cNvPicPr>
            <p:nvPr/>
          </p:nvPicPr>
          <p:blipFill>
            <a:blip r:embed="rId3"/>
            <a:srcRect l="20434" t="19675" r="20108" b="21707"/>
            <a:stretch>
              <a:fillRect/>
            </a:stretch>
          </p:blipFill>
          <p:spPr>
            <a:xfrm>
              <a:off x="1394" y="159"/>
              <a:ext cx="1159" cy="1118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4"/>
              </p:custDataLst>
            </p:nvPr>
          </p:nvPicPr>
          <p:blipFill>
            <a:blip r:embed="rId5"/>
            <a:srcRect r="73078" b="-10636"/>
            <a:stretch>
              <a:fillRect/>
            </a:stretch>
          </p:blipFill>
          <p:spPr>
            <a:xfrm>
              <a:off x="326" y="238"/>
              <a:ext cx="1068" cy="1113"/>
            </a:xfrm>
            <a:prstGeom prst="rect">
              <a:avLst/>
            </a:prstGeom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1832916"/>
            <a:ext cx="11293098" cy="492434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32373" y="1261394"/>
            <a:ext cx="11319181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从大数据到大模型：数据驱动智能的跃迁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Picture 2" descr="图片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237" y="52"/>
            <a:ext cx="2837036" cy="228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大模型与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24" idx="3"/>
            <a:endCxn id="26" idx="1"/>
          </p:cNvCxnSpPr>
          <p:nvPr/>
        </p:nvCxnSpPr>
        <p:spPr>
          <a:xfrm>
            <a:off x="6153150" y="2533650"/>
            <a:ext cx="88582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14" name="直接箭头连接符 13"/>
          <p:cNvCxnSpPr>
            <a:stCxn id="17" idx="3"/>
            <a:endCxn id="24" idx="1"/>
          </p:cNvCxnSpPr>
          <p:nvPr/>
        </p:nvCxnSpPr>
        <p:spPr>
          <a:xfrm>
            <a:off x="2943225" y="2533650"/>
            <a:ext cx="87630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大模型通过预训练形成可迁移的表征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143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大规模训练数据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819525" y="2143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预训练模型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038975" y="2143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下游任务适配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7700" y="3714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预训练阶段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" y="430530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在大量数据上学习通用特征与关系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496050" y="3714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任务适配阶段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96050" y="430530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通过标注监督与适配模块，形成具体任务的输出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预训练提供表征基础，任务数据决定下游适配与验证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大模型与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模型发展从任务专用学习走向预训练与适配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1885950"/>
            <a:ext cx="66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34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7527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任务专用模型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3476625"/>
            <a:ext cx="342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FCN、U-Net、DeepLabV3+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4333875"/>
            <a:ext cx="3429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利用任务标注学习图像特征</a:t>
            </a:r>
            <a:endParaRPr sz="1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33875" y="1885950"/>
            <a:ext cx="66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4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33875" y="27527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全局关系建模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33875" y="3476625"/>
            <a:ext cx="342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Transformer编码器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33875" y="4333875"/>
            <a:ext cx="3429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建模图像中较长距离的特征关系</a:t>
            </a:r>
            <a:endParaRPr sz="1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58150" y="1885950"/>
            <a:ext cx="66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4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58150" y="27527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视觉基础模型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58150" y="3476625"/>
            <a:ext cx="342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以SAM为例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58150" y="4333875"/>
            <a:ext cx="3429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预训练表征结合提示与领域适配</a:t>
            </a:r>
            <a:endParaRPr sz="19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研究重点转向如何利用和调节已有表征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大模型与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语言、视觉与多模态模型具有不同的输入输出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28800"/>
          <a:ext cx="10972800" cy="2952752"/>
        </p:xfrm>
        <a:graphic>
          <a:graphicData uri="http://schemas.openxmlformats.org/drawingml/2006/table">
            <a:tbl>
              <a:tblPr/>
              <a:tblGrid>
                <a:gridCol w="2952750"/>
                <a:gridCol w="3905250"/>
                <a:gridCol w="4114800"/>
              </a:tblGrid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模型类型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主要输入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典型输出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语言大模型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文本、指令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文本生成与任务计划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视觉基础模型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图像及任务提示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视觉表征、目标掩膜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多模态模型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图像、文本等多种数据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跨模态理解与生成</a:t>
                      </a:r>
                      <a:endParaRPr sz="195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分割模型负责像素预测，语言模型可参与智能体任务编排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（一）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大模型与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视觉大模型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VLM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28" name="肘形连接符 27"/>
          <p:cNvCxnSpPr>
            <a:stCxn id="23" idx="0"/>
            <a:endCxn id="20" idx="2"/>
          </p:cNvCxnSpPr>
          <p:nvPr/>
        </p:nvCxnSpPr>
        <p:spPr>
          <a:xfrm flipV="1">
            <a:off x="7181850" y="2886075"/>
            <a:ext cx="971550" cy="1057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7" idx="3"/>
            <a:endCxn id="23" idx="1"/>
          </p:cNvCxnSpPr>
          <p:nvPr/>
        </p:nvCxnSpPr>
        <p:spPr>
          <a:xfrm>
            <a:off x="5410200" y="4324350"/>
            <a:ext cx="61912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6" name="直接箭头连接符 25"/>
          <p:cNvCxnSpPr>
            <a:stCxn id="20" idx="3"/>
            <a:endCxn id="21" idx="1"/>
          </p:cNvCxnSpPr>
          <p:nvPr/>
        </p:nvCxnSpPr>
        <p:spPr>
          <a:xfrm>
            <a:off x="9305925" y="2505075"/>
            <a:ext cx="54292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5" name="直接箭头连接符 24"/>
          <p:cNvCxnSpPr>
            <a:stCxn id="19" idx="3"/>
            <a:endCxn id="20" idx="1"/>
          </p:cNvCxnSpPr>
          <p:nvPr/>
        </p:nvCxnSpPr>
        <p:spPr>
          <a:xfrm>
            <a:off x="5410200" y="2505075"/>
            <a:ext cx="159067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4" name="直接箭头连接符 23"/>
          <p:cNvCxnSpPr>
            <a:stCxn id="6" idx="3"/>
            <a:endCxn id="19" idx="1"/>
          </p:cNvCxnSpPr>
          <p:nvPr/>
        </p:nvCxnSpPr>
        <p:spPr>
          <a:xfrm>
            <a:off x="2514600" y="2505075"/>
            <a:ext cx="59055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SAM以图像表征与提示共同生成目标掩膜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1240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105150" y="2124075"/>
            <a:ext cx="230505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图像编码器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000875" y="2124075"/>
            <a:ext cx="230505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掩码解码器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848850" y="2124075"/>
            <a:ext cx="1733550" cy="762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分割掩膜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105150" y="3943350"/>
            <a:ext cx="230505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点、框、掩膜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29325" y="3943350"/>
            <a:ext cx="230505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提示编码器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人工空间提示与内部可学习特征提示具有不同作用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语义分割为滑坡编目提供像素级范围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1874920"/>
            <a:ext cx="3095625" cy="30795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75" y="1882940"/>
            <a:ext cx="3095625" cy="3063546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04850" y="5114925"/>
            <a:ext cx="3095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38675" y="5114925"/>
            <a:ext cx="3095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滑坡像素范围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24875" y="20955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空间成果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24875" y="2686050"/>
            <a:ext cx="285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模型输出掩膜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矢量化形成滑坡范围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复核后进入灾害编目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识别范围为灾后调查与暴露分析提供空间基础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尺度、边界与背景干扰共同增加任务难度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958537"/>
            <a:ext cx="2686050" cy="265517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675" y="1943100"/>
            <a:ext cx="2686050" cy="26860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66750" y="4876800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不规则滑坡形态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733800" y="48768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细长目标与相似背景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0" y="1828800"/>
            <a:ext cx="4429125" cy="3381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小目标与群发分布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边缘破碎、形态不规则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道路、裸地与植被扰动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成像变化与非滑坡变化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评价同时关注目标检出、背景误检与边界完整性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预训练表征与任务适配提供新的建模路径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9125" y="18002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表征复用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619375" y="18002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利用预训练图像编码器提供的视觉特征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619375" y="25527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9125" y="27336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领域适配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619375" y="27336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频率、边界与任务监督补充滑坡相关信息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619375" y="348615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9125" y="36671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提示利用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619375" y="36671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人工或自动空间提示提供候选区域线索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619375" y="44196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9125" y="46005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变化融合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619375" y="46005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联合灾前灾后信息与目标语义进行判别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团队研究围绕四类适配问题逐步展开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1800225"/>
          <a:ext cx="10972800" cy="3533775"/>
        </p:xfrm>
        <a:graphic>
          <a:graphicData uri="http://schemas.openxmlformats.org/drawingml/2006/table">
            <a:tbl>
              <a:tblPr/>
              <a:tblGrid>
                <a:gridCol w="2905125"/>
                <a:gridCol w="4000500"/>
                <a:gridCol w="4067175"/>
              </a:tblGrid>
              <a:tr h="70675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研究步骤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主要问题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方法入口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LS-FPSAM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滑坡纹理与边界的领域差异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频率先验与残差提示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LF-SAM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群发滑坡的候选区域定位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变化感知ROI与特征适配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AB-SAM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辅助提示训练与应用简化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非对称监督与边界提示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SCF-SAM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滑坡变化与其他变化混杂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语义与变化特征门控融合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26" name="直接箭头连接符 25"/>
          <p:cNvCxnSpPr>
            <a:stCxn id="23" idx="3"/>
            <a:endCxn id="24" idx="1"/>
          </p:cNvCxnSpPr>
          <p:nvPr/>
        </p:nvCxnSpPr>
        <p:spPr>
          <a:xfrm>
            <a:off x="7143750" y="4600575"/>
            <a:ext cx="108585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5" name="直接箭头连接符 24"/>
          <p:cNvCxnSpPr>
            <a:stCxn id="5" idx="3"/>
            <a:endCxn id="23" idx="1"/>
          </p:cNvCxnSpPr>
          <p:nvPr/>
        </p:nvCxnSpPr>
        <p:spPr>
          <a:xfrm>
            <a:off x="3343275" y="4600575"/>
            <a:ext cx="106680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第一步：以频率提示调节滑坡特征表达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1838325"/>
            <a:ext cx="5191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428875"/>
            <a:ext cx="51911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通用表征对滑坡纹理与边缘的响应需要领域适配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1838325"/>
            <a:ext cx="5191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24600" y="2428875"/>
            <a:ext cx="51911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生成频率先验提示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逐层残差注入冻结编码器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训练提示生成器与掩码解码器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4238625"/>
            <a:ext cx="27336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图像与频率先验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10075" y="4238625"/>
            <a:ext cx="27336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逐层特征提示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229600" y="42386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无外部提示分割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30" name="直接箭头连接符 29"/>
          <p:cNvCxnSpPr>
            <a:stCxn id="27" idx="3"/>
            <a:endCxn id="28" idx="1"/>
          </p:cNvCxnSpPr>
          <p:nvPr/>
        </p:nvCxnSpPr>
        <p:spPr>
          <a:xfrm>
            <a:off x="6153150" y="4400550"/>
            <a:ext cx="88582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9" name="直接箭头连接符 28"/>
          <p:cNvCxnSpPr>
            <a:stCxn id="26" idx="3"/>
            <a:endCxn id="27" idx="1"/>
          </p:cNvCxnSpPr>
          <p:nvPr/>
        </p:nvCxnSpPr>
        <p:spPr>
          <a:xfrm>
            <a:off x="2952750" y="4400550"/>
            <a:ext cx="86677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4" name="直接箭头连接符 23"/>
          <p:cNvCxnSpPr>
            <a:stCxn id="20" idx="3"/>
            <a:endCxn id="21" idx="1"/>
          </p:cNvCxnSpPr>
          <p:nvPr/>
        </p:nvCxnSpPr>
        <p:spPr>
          <a:xfrm>
            <a:off x="8153400" y="2381250"/>
            <a:ext cx="68580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3" name="直接箭头连接符 22"/>
          <p:cNvCxnSpPr>
            <a:stCxn id="19" idx="3"/>
            <a:endCxn id="20" idx="1"/>
          </p:cNvCxnSpPr>
          <p:nvPr/>
        </p:nvCxnSpPr>
        <p:spPr>
          <a:xfrm>
            <a:off x="5276850" y="2381250"/>
            <a:ext cx="68580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5" name="直接箭头连接符 4"/>
          <p:cNvCxnSpPr>
            <a:stCxn id="18" idx="3"/>
            <a:endCxn id="19" idx="1"/>
          </p:cNvCxnSpPr>
          <p:nvPr/>
        </p:nvCxnSpPr>
        <p:spPr>
          <a:xfrm>
            <a:off x="2609850" y="2381250"/>
            <a:ext cx="66675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频率先验生成提示，残差连接逐层注入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09600" y="2028825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276600" y="2028825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高频先验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962650" y="2028825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特征融合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839200" y="2028825"/>
            <a:ext cx="2724150" cy="704850"/>
          </a:xfrm>
          <a:prstGeom prst="roundRect">
            <a:avLst>
              <a:gd name="adj" fmla="val 10811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各层提示 pᵢ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52800" y="304800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低维图像嵌入共同参与提示生成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143000" y="4038600"/>
            <a:ext cx="1809750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Xᵢ₋₁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819525" y="4038600"/>
            <a:ext cx="233362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加上提示 pᵢ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038975" y="4038600"/>
            <a:ext cx="2724150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冻结Blockᵢ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71575" y="5076825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Xᵢ = Blockᵢ(Xᵢ₋₁ + pᵢ)</a:t>
            </a:r>
            <a:endParaRPr sz="217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高频包含目标与背景边缘，监督训练决定语义判别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4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泸定实验检验频率提示适配的分割效果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600075" y="1866900"/>
          <a:ext cx="5495925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矩形 18"/>
          <p:cNvSpPr>
            <a:spLocks noGrp="1"/>
          </p:cNvSpPr>
          <p:nvPr/>
        </p:nvSpPr>
        <p:spPr>
          <a:xfrm>
            <a:off x="6457950" y="2076450"/>
            <a:ext cx="1704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2800131"/>
            <a:ext cx="1619250" cy="1600638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8210550" y="2076450"/>
            <a:ext cx="1704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真实标签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550" y="2795478"/>
            <a:ext cx="1619250" cy="1609944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9963150" y="2076450"/>
            <a:ext cx="1704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3150" y="2795478"/>
            <a:ext cx="1619250" cy="1609944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6553200" y="4848225"/>
            <a:ext cx="4810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77.54%</a:t>
            </a:r>
            <a:endParaRPr sz="202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mIoU 73.79%</a:t>
            </a:r>
            <a:endParaRPr sz="202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指标采用正文表2，定性图展示同一例的影像、标签与预测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从频率适配进一步探索变化信息的利用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876425"/>
            <a:ext cx="51339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已有认识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" y="2466975"/>
            <a:ext cx="51339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频率先验通过学习式提示调节预训练特征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无外部提示解码适用于自动滑坡分割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1876425"/>
            <a:ext cx="51339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进一步的问题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2466975"/>
            <a:ext cx="51339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群发滑坡与复杂背景如何区分？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灾前灾后变化能否提供候选空间区域？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48006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下一步：变化感知的自动候选框与领域特征适配</a:t>
            </a:r>
            <a:endParaRPr sz="23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从图像内部的特征适配，扩展到双时相变化辅助定位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第二步：利用双时相变化自动生成候选区域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3" y="2028825"/>
            <a:ext cx="3015520" cy="29051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rcRect t="-1705" r="3241"/>
          <a:stretch>
            <a:fillRect/>
          </a:stretch>
        </p:blipFill>
        <p:spPr>
          <a:xfrm>
            <a:off x="4077970" y="1979295"/>
            <a:ext cx="2900680" cy="2954655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09600" y="5095875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灾前影像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29075" y="5095875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48575" y="1981200"/>
            <a:ext cx="390525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梅州暴雨群发滑坡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有效影像样本：828幅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双时相变化生成ROI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LF-Adapter调节领域特征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方法将候选区域定位与像素级分割结合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28" name="直接箭头连接符 27"/>
          <p:cNvCxnSpPr>
            <a:stCxn id="20" idx="2"/>
            <a:endCxn id="25" idx="0"/>
          </p:cNvCxnSpPr>
          <p:nvPr/>
        </p:nvCxnSpPr>
        <p:spPr>
          <a:xfrm>
            <a:off x="9677400" y="2760980"/>
            <a:ext cx="0" cy="1229995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24" idx="3"/>
            <a:endCxn id="25" idx="1"/>
          </p:cNvCxnSpPr>
          <p:nvPr/>
        </p:nvCxnSpPr>
        <p:spPr>
          <a:xfrm>
            <a:off x="6724650" y="4419600"/>
            <a:ext cx="107632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6" name="肘形连接符 25"/>
          <p:cNvCxnSpPr>
            <a:stCxn id="23" idx="3"/>
            <a:endCxn id="24" idx="1"/>
          </p:cNvCxnSpPr>
          <p:nvPr/>
        </p:nvCxnSpPr>
        <p:spPr>
          <a:xfrm>
            <a:off x="3152775" y="4416425"/>
            <a:ext cx="866775" cy="3175"/>
          </a:xfrm>
          <a:prstGeom prst="bentConnector3">
            <a:avLst>
              <a:gd name="adj1" fmla="val 50037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5" name="肘形连接符 4"/>
          <p:cNvCxnSpPr>
            <a:stCxn id="19" idx="3"/>
            <a:endCxn id="20" idx="1"/>
          </p:cNvCxnSpPr>
          <p:nvPr/>
        </p:nvCxnSpPr>
        <p:spPr>
          <a:xfrm flipV="1">
            <a:off x="6724650" y="2399030"/>
            <a:ext cx="1076325" cy="1270"/>
          </a:xfrm>
          <a:prstGeom prst="bentConnector3">
            <a:avLst>
              <a:gd name="adj1" fmla="val 50029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1" name="肘形连接符 20"/>
          <p:cNvCxnSpPr>
            <a:stCxn id="18" idx="3"/>
            <a:endCxn id="19" idx="1"/>
          </p:cNvCxnSpPr>
          <p:nvPr/>
        </p:nvCxnSpPr>
        <p:spPr>
          <a:xfrm>
            <a:off x="3152775" y="2399030"/>
            <a:ext cx="866775" cy="1270"/>
          </a:xfrm>
          <a:prstGeom prst="bentConnector3">
            <a:avLst>
              <a:gd name="adj1" fmla="val 50037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自动ROI与LF-Adapter共同参与分割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09600" y="2037080"/>
            <a:ext cx="25431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灾前灾后影像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19550" y="1971675"/>
            <a:ext cx="270510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特征变化与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形态软约束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00975" y="2037080"/>
            <a:ext cx="3752850" cy="723900"/>
          </a:xfrm>
          <a:prstGeom prst="roundRect">
            <a:avLst>
              <a:gd name="adj" fmla="val 10526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自动候选框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4054475"/>
            <a:ext cx="25431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019550" y="3990975"/>
            <a:ext cx="270510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冻结SAM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LF-Adapter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800975" y="3990975"/>
            <a:ext cx="37528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全图与多框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预测融合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全图分支补充候选框未覆盖区域的响应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4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受控消融与最终测试回答不同的实验问题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609600" y="1866900"/>
          <a:ext cx="56578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6715125" y="2000250"/>
          <a:ext cx="4848225" cy="1600200"/>
        </p:xfrm>
        <a:graphic>
          <a:graphicData uri="http://schemas.openxmlformats.org/drawingml/2006/table">
            <a:tbl>
              <a:tblPr/>
              <a:tblGrid>
                <a:gridCol w="2000250"/>
                <a:gridCol w="1419225"/>
                <a:gridCol w="14287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测试输出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F1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IoU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全图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71.35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55.46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ROI融合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71.43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55.56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矩形 19"/>
          <p:cNvSpPr>
            <a:spLocks noGrp="1"/>
          </p:cNvSpPr>
          <p:nvPr/>
        </p:nvSpPr>
        <p:spPr>
          <a:xfrm>
            <a:off x="6715125" y="37433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365685"/>
            <a:ext cx="1533525" cy="100318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382000" y="37433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真实标签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4365685"/>
            <a:ext cx="1533525" cy="1003181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10048875" y="37433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875" y="4365685"/>
            <a:ext cx="1533525" cy="1003181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特征适配提供主要增益，测试集推理融合增益较小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候选提示提供空间线索，也引出应用简化问题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1866900"/>
            <a:ext cx="523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81.49%</a:t>
            </a:r>
            <a:endParaRPr sz="352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505075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候选框覆盖真实滑坡像素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05575" y="18669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16.19%</a:t>
            </a:r>
            <a:endParaRPr sz="352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05575" y="2505075"/>
            <a:ext cx="485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候选区域纯度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800475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已有认识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" y="4391025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候选区域提供空间定位线索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完整边界仍依赖像素级判别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24625" y="380047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进一步的问题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24625" y="4391025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能否在训练阶段利用辅助框？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应用时仅保留无提示主分支？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下一步：非对称训练保留提示监督，简化应用阶段输入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第三步：将辅助框的作用集中于训练阶段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90500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训练阶段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" y="2495550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双时相变化生成辅助框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无提示主分支承担主要监督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框提示辅助分支采用较低权重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1905000"/>
            <a:ext cx="5086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推理阶段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2495550"/>
            <a:ext cx="50863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仅输入灾后影像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保留无外部提示主分支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无需候选框生成流程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非对称训练与边界适配共同构成AB-SAM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26" name="肘形连接符 25"/>
          <p:cNvCxnSpPr>
            <a:stCxn id="19" idx="2"/>
            <a:endCxn id="24" idx="0"/>
          </p:cNvCxnSpPr>
          <p:nvPr/>
        </p:nvCxnSpPr>
        <p:spPr>
          <a:xfrm>
            <a:off x="6248400" y="2847975"/>
            <a:ext cx="2352675" cy="1304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5" name="肘形连接符 24"/>
          <p:cNvCxnSpPr>
            <a:stCxn id="19" idx="2"/>
            <a:endCxn id="23" idx="0"/>
          </p:cNvCxnSpPr>
          <p:nvPr/>
        </p:nvCxnSpPr>
        <p:spPr>
          <a:xfrm flipH="1">
            <a:off x="2957513" y="2847975"/>
            <a:ext cx="3290888" cy="1304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5" name="直接箭头连接符 4"/>
          <p:cNvCxnSpPr>
            <a:stCxn id="20" idx="1"/>
            <a:endCxn id="19" idx="3"/>
          </p:cNvCxnSpPr>
          <p:nvPr/>
        </p:nvCxnSpPr>
        <p:spPr>
          <a:xfrm flipH="1">
            <a:off x="7820025" y="2400300"/>
            <a:ext cx="809625" cy="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 w="med" len="med"/>
          </a:ln>
        </p:spPr>
      </p:cxnSp>
      <p:cxnSp>
        <p:nvCxnSpPr>
          <p:cNvPr id="21" name="直接箭头连接符 20"/>
          <p:cNvCxnSpPr>
            <a:stCxn id="18" idx="3"/>
            <a:endCxn id="19" idx="1"/>
          </p:cNvCxnSpPr>
          <p:nvPr/>
        </p:nvCxnSpPr>
        <p:spPr>
          <a:xfrm>
            <a:off x="3619500" y="2400300"/>
            <a:ext cx="1057275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非对称监督与边界提示共同调节模型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" y="1952625"/>
            <a:ext cx="3000375" cy="895350"/>
          </a:xfrm>
          <a:prstGeom prst="roundRect">
            <a:avLst>
              <a:gd name="adj" fmla="val 85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几何扰动与CutMix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676775" y="1952625"/>
            <a:ext cx="3143250" cy="895350"/>
          </a:xfrm>
          <a:prstGeom prst="roundRect">
            <a:avLst>
              <a:gd name="adj" fmla="val 85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共享编码器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BAMP边界适配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29650" y="1952625"/>
            <a:ext cx="2914650" cy="895350"/>
          </a:xfrm>
          <a:prstGeom prst="roundRect">
            <a:avLst>
              <a:gd name="adj" fmla="val 8511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边界相关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频率与形态提示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228725" y="4152900"/>
            <a:ext cx="3457575" cy="876300"/>
          </a:xfrm>
          <a:prstGeom prst="roundRect">
            <a:avLst>
              <a:gd name="adj" fmla="val 8696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无提示主分支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主要监督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00825" y="4152900"/>
            <a:ext cx="4000500" cy="87630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框提示辅助分支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较低监督权重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10300" y="5257800"/>
            <a:ext cx="535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MF-VGP从双时相影像独立生成辅助框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推理保留主分支，真实掩膜仅用于训练监督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空间独立测试与直接迁移检验AB-SAM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20764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95526"/>
            <a:ext cx="1819275" cy="1809849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2562225" y="20764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真实标签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225" y="2700239"/>
            <a:ext cx="1819275" cy="1800422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514850" y="20764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850" y="2700239"/>
            <a:ext cx="1819275" cy="1800422"/>
          </a:xfrm>
          <a:prstGeom prst="rect">
            <a:avLst/>
          </a:prstGeom>
        </p:spPr>
      </p:pic>
      <p:graphicFrame>
        <p:nvGraphicFramePr>
          <p:cNvPr id="24" name="表格 23"/>
          <p:cNvGraphicFramePr/>
          <p:nvPr/>
        </p:nvGraphicFramePr>
        <p:xfrm>
          <a:off x="6800850" y="2000250"/>
          <a:ext cx="4762500" cy="2447925"/>
        </p:xfrm>
        <a:graphic>
          <a:graphicData uri="http://schemas.openxmlformats.org/drawingml/2006/table">
            <a:tbl>
              <a:tblPr/>
              <a:tblGrid>
                <a:gridCol w="2190750"/>
                <a:gridCol w="1285875"/>
                <a:gridCol w="1285875"/>
              </a:tblGrid>
              <a:tr h="8159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F1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IoU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资兴独立测试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63.82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46.87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北海道迁移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58.23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41.07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5" name="矩形 24"/>
          <p:cNvSpPr>
            <a:spLocks noGrp="1"/>
          </p:cNvSpPr>
          <p:nvPr/>
        </p:nvSpPr>
        <p:spPr>
          <a:xfrm>
            <a:off x="6800850" y="468630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资兴测试集：112幅</a:t>
            </a:r>
            <a:endParaRPr sz="187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北海道：固定检查点直接迁移</a:t>
            </a:r>
            <a:endParaRPr sz="187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迁移结果提供应用依据，目标区域仍需独立验证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从训练辅助变化走向像素级变化融合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847850"/>
            <a:ext cx="51339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已有认识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38400"/>
            <a:ext cx="51339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提示可在训练阶段提供辅助监督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边界提示调节破碎轮廓表达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应用阶段采用灾后无提示分支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86525" y="1847850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进一步的问题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86525" y="243840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当双时相影像可用时，变化特征能否直接参与像素判别？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如何抑制非滑坡变化的干扰？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4895850"/>
            <a:ext cx="10896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下一步：语义表征与变化特征的空间门控融合</a:t>
            </a:r>
            <a:endParaRPr sz="23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从辅助框监督，进一步探索变化与语义的联合判别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第四步：联合滑坡语义与灾前灾后变化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933575"/>
            <a:ext cx="3133725" cy="31337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519" y="1933575"/>
            <a:ext cx="3103737" cy="3133725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19125" y="5210175"/>
            <a:ext cx="3133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200525" y="5210175"/>
            <a:ext cx="3133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真实滑坡范围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48600" y="1933575"/>
            <a:ext cx="3705225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北京“23·7”暴雨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952组双时相样本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变化同时包含滑坡与其他扰动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需要与目标语义共同判别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输入条件：配准的灾前灾后影像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cxnSp>
        <p:nvCxnSpPr>
          <p:cNvPr id="28" name="肘形连接符 27"/>
          <p:cNvCxnSpPr>
            <a:stCxn id="20" idx="2"/>
            <a:endCxn id="25" idx="0"/>
          </p:cNvCxnSpPr>
          <p:nvPr/>
        </p:nvCxnSpPr>
        <p:spPr>
          <a:xfrm flipH="1">
            <a:off x="9510713" y="2695575"/>
            <a:ext cx="828675" cy="1190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24" idx="3"/>
            <a:endCxn id="25" idx="1"/>
          </p:cNvCxnSpPr>
          <p:nvPr/>
        </p:nvCxnSpPr>
        <p:spPr>
          <a:xfrm>
            <a:off x="6505575" y="4376738"/>
            <a:ext cx="971550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6" name="肘形连接符 25"/>
          <p:cNvCxnSpPr>
            <a:stCxn id="23" idx="3"/>
            <a:endCxn id="24" idx="1"/>
          </p:cNvCxnSpPr>
          <p:nvPr/>
        </p:nvCxnSpPr>
        <p:spPr>
          <a:xfrm>
            <a:off x="2847975" y="4371975"/>
            <a:ext cx="942975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5" name="肘形连接符 4"/>
          <p:cNvCxnSpPr>
            <a:stCxn id="19" idx="3"/>
            <a:endCxn id="20" idx="1"/>
          </p:cNvCxnSpPr>
          <p:nvPr/>
        </p:nvCxnSpPr>
        <p:spPr>
          <a:xfrm flipV="1">
            <a:off x="8124825" y="2333625"/>
            <a:ext cx="1009650" cy="1428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cxnSp>
        <p:nvCxnSpPr>
          <p:cNvPr id="21" name="肘形连接符 20"/>
          <p:cNvCxnSpPr>
            <a:stCxn id="18" idx="3"/>
            <a:endCxn id="19" idx="1"/>
          </p:cNvCxnSpPr>
          <p:nvPr/>
        </p:nvCxnSpPr>
        <p:spPr>
          <a:xfrm>
            <a:off x="2847975" y="2333625"/>
            <a:ext cx="942975" cy="1428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编码端适配与解码端融合形成协同机制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09600" y="1971675"/>
            <a:ext cx="22383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双时相输入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790950" y="1857375"/>
            <a:ext cx="4333875" cy="981075"/>
          </a:xfrm>
          <a:prstGeom prst="roundRect">
            <a:avLst>
              <a:gd name="adj" fmla="val 7767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语义编码分支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阶段权重与选择性微调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34475" y="1971675"/>
            <a:ext cx="240982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语义特征 S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4010025"/>
            <a:ext cx="2238375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差分 T₂ − T₁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790950" y="3886200"/>
            <a:ext cx="2714625" cy="981075"/>
          </a:xfrm>
          <a:prstGeom prst="roundRect">
            <a:avLst>
              <a:gd name="adj" fmla="val 7767"/>
            </a:avLst>
          </a:prstGeom>
          <a:solidFill>
            <a:srgbClr val="F5F5F5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浅层卷积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变化特征 C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477125" y="3886200"/>
            <a:ext cx="4067175" cy="981075"/>
          </a:xfrm>
          <a:prstGeom prst="roundRect">
            <a:avLst>
              <a:gd name="adj" fmla="val 7767"/>
            </a:avLst>
          </a:prstGeom>
          <a:solidFill>
            <a:srgbClr val="C00000"/>
          </a:solidFill>
          <a:ln w="9525">
            <a:solidFill>
              <a:srgbClr val="CFCFCF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空间门控 G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残差融合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81450" y="5153025"/>
            <a:ext cx="7515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= S + G ⊙ C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空间门控调节变化特征的局部贡献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4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北京事件实验检验语义与变化协同的作用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609600" y="1847850"/>
          <a:ext cx="5991225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矩形 18"/>
          <p:cNvSpPr>
            <a:spLocks noGrp="1"/>
          </p:cNvSpPr>
          <p:nvPr/>
        </p:nvSpPr>
        <p:spPr>
          <a:xfrm>
            <a:off x="6924675" y="2076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灾后影像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675" y="2881313"/>
            <a:ext cx="1438275" cy="1438275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8496300" y="2076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真实标签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2874364"/>
            <a:ext cx="1438275" cy="1452171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10067925" y="2076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</a:t>
            </a:r>
            <a:endParaRPr sz="18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925" y="2881313"/>
            <a:ext cx="1438275" cy="1438275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6924675" y="4857750"/>
            <a:ext cx="46386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联合模块 mIoU 74.1%</a:t>
            </a:r>
            <a:endParaRPr sz="187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学习阶段权重后 74.8%</a:t>
            </a:r>
            <a:endParaRPr sz="1875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SCF-SAM：F1 71.5%，IoU 55.7%，mIoU 74.8%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四步优化体现适配位置与信息利用的深化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1809750"/>
          <a:ext cx="10972800" cy="3562350"/>
        </p:xfrm>
        <a:graphic>
          <a:graphicData uri="http://schemas.openxmlformats.org/drawingml/2006/table">
            <a:tbl>
              <a:tblPr/>
              <a:tblGrid>
                <a:gridCol w="2352675"/>
                <a:gridCol w="3552825"/>
                <a:gridCol w="5067300"/>
              </a:tblGrid>
              <a:tr h="71247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特征适配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变化与提示的作用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002060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LS-FPSAM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频率残差提示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内部特征提示，无外部框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LF-SAM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LF-Adapter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变化生成候选框，融合全图预测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AB-SAM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BAMP边界提示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辅助框参与训练，应用保留主分支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SCF-SAM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阶段权重与选择性微调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变化特征在解码端门控融合</a:t>
                      </a:r>
                      <a:endParaRPr sz="1800" b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四项研究提供不同输入条件下的候选分割能力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场景与问题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从分割掩膜到区域制图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7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基础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58568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4016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领域适配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51376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自动提示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44183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无提示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6992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语义变化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29800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85248" y="1975104"/>
            <a:ext cx="1700784" cy="4937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" y="2779776"/>
            <a:ext cx="5989320" cy="30540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364992"/>
            <a:ext cx="1947672" cy="19476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3364992"/>
            <a:ext cx="1947672" cy="19476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9536" y="2880360"/>
            <a:ext cx="1947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影像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880360"/>
            <a:ext cx="1947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掩膜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36392" y="4178808"/>
            <a:ext cx="603504" cy="256032"/>
          </a:xfrm>
          <a:prstGeom prst="rightArrow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766560" y="4178808"/>
            <a:ext cx="585216" cy="256032"/>
          </a:xfrm>
          <a:prstGeom prst="rightArrow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2127" y="3666744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3023" y="3666744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7" y="3977639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3023" y="3977639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拼接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42832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9153144" y="3712463"/>
            <a:ext cx="676656" cy="466345"/>
          </a:xfrm>
          <a:custGeom>
            <a:avLst/>
            <a:gdLst/>
            <a:ahLst/>
            <a:cxnLst/>
            <a:rect l="l" t="t" r="r" b="b"/>
            <a:pathLst>
              <a:path w="676656" h="466345">
                <a:moveTo>
                  <a:pt x="0" y="466345"/>
                </a:moveTo>
                <a:lnTo>
                  <a:pt x="146304" y="0"/>
                </a:lnTo>
                <a:lnTo>
                  <a:pt x="576071" y="128017"/>
                </a:lnTo>
                <a:lnTo>
                  <a:pt x="676656" y="438913"/>
                </a:lnTo>
                <a:lnTo>
                  <a:pt x="0" y="466345"/>
                </a:lnTo>
                <a:close/>
              </a:path>
            </a:pathLst>
          </a:custGeom>
          <a:solidFill>
            <a:srgbClr val="F1F5FA"/>
          </a:solidFill>
          <a:ln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7967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矢量化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50424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515599" y="3968496"/>
            <a:ext cx="210312" cy="201167"/>
          </a:xfrm>
          <a:prstGeom prst="line">
            <a:avLst/>
          </a:prstGeom>
          <a:ln w="38100">
            <a:solidFill>
              <a:srgbClr val="B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25911" y="3721608"/>
            <a:ext cx="374904" cy="448055"/>
          </a:xfrm>
          <a:prstGeom prst="line">
            <a:avLst/>
          </a:prstGeom>
          <a:ln w="38100">
            <a:solidFill>
              <a:srgbClr val="B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195559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复核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5495544"/>
            <a:ext cx="4160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补齐制图工具链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改进的方法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智能体编排，专业工具计算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70248" y="1965960"/>
            <a:ext cx="3657600" cy="594360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2011680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区域＋事件＋成果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2560320"/>
            <a:ext cx="0" cy="320040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87368" y="2880360"/>
            <a:ext cx="4023360" cy="987552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30175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任务编排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3867912"/>
            <a:ext cx="0" cy="384048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10512" y="4251960"/>
            <a:ext cx="8577072" cy="0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10512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1207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7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遥感预处理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72583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83279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79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滑坡分割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34656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45352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GIS制图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96728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07424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4626864"/>
            <a:ext cx="50292" cy="841248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质量复核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" y="5779008"/>
            <a:ext cx="11146536" cy="475488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797296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保留日志，支持续跑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分割已有证据，制图仍待实测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7" y="196596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北京暴雨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影像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7" y="3250692"/>
            <a:ext cx="2267712" cy="2267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63239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0379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39" y="3250692"/>
            <a:ext cx="2267712" cy="2267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05272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2412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272" y="3250692"/>
            <a:ext cx="2267712" cy="226771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8165592" y="2377440"/>
            <a:ext cx="0" cy="3182112"/>
          </a:xfrm>
          <a:prstGeom prst="line">
            <a:avLst/>
          </a:prstGeom>
          <a:ln w="1778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40496" y="259689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SCF-SAM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32369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mIoU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822191"/>
            <a:ext cx="3246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74.8%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806440"/>
            <a:ext cx="11146536" cy="466344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15584"/>
            <a:ext cx="10780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模型精度 ≠ 系统可靠性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使用条件与局限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输入匹配，复核交付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7" y="2011680"/>
            <a:ext cx="5413248" cy="3410712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2011680"/>
            <a:ext cx="5413248" cy="59436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" y="2313432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单时相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7" y="3099816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96312" y="3191256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灾后影像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" y="4690872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频率／边界适配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011680"/>
            <a:ext cx="5413248" cy="3410712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2011680"/>
            <a:ext cx="5413248" cy="5943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313432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双时相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3209544"/>
            <a:ext cx="12618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7416" y="3008376"/>
            <a:ext cx="12618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67728" y="3337560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67728" y="3666744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67728" y="3995928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3191256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配准影像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690872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候选提示／语义变化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" y="5733288"/>
            <a:ext cx="5413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5760720"/>
            <a:ext cx="5413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新增需双时相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5733288"/>
            <a:ext cx="5413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5760720"/>
            <a:ext cx="5413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新区域先验证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（二）基于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LVM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的滑坡图像语义分割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（三）思考与展望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思考一：增益来自哪些适配机制？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8002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表征适配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19375" y="18002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频率与边界提示如何改变滑坡相关特征？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19375" y="25527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" y="27336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提示作用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619375" y="27336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候选框对覆盖率、误检与漏检分别有什么影响？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619375" y="348615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19125" y="36671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变化融合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619375" y="36671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哪些变化有助于判别，哪些变化引入背景干扰？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19375" y="44196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9125" y="46005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619375" y="46005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在统一数据与训练条件下，用消融检验各模块贡献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（三）思考与展望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思考二：区域应用仍受哪些因素限制？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目标与边界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19375" y="18002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极小目标、破碎斑块与细长结构仍可能遗漏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19375" y="25527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7336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数据与区域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19375" y="27336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地表覆盖、分辨率和事件类型造成域偏移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19375" y="348615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36671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双时相条件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19375" y="36671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配准、云影和其他地表变化影响变化特征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19375" y="44196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46005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评价与效率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19375" y="46005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样本切片精度、完整区域误检与运行耗时需分别报告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（三）思考与展望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下一步模型研究：统一验证与地学信息融入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876425"/>
            <a:ext cx="5172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统一验证体系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" y="2466975"/>
            <a:ext cx="51720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固定数据与提示协议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采用空间交叉验证与跨事件测试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补充对象检出和边界误差评价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86525" y="1876425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地学信息与约束</a:t>
            </a:r>
            <a:endParaRPr sz="225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86525" y="2466975"/>
            <a:ext cx="50958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探索DEM、坡度等地形信息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检验与光学语义、变化的互补性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分析约束对误检与迁移的作用</a:t>
            </a:r>
            <a:endParaRPr sz="2025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4981575"/>
            <a:ext cx="10877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重点检验：极小目标、背景误检与跨区域稳定性</a:t>
            </a:r>
            <a:endParaRPr sz="22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先建立可复现基准，再验证新增信息的实际贡献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346833" cy="869879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0571" tIns="45284" rIns="90571" bIns="45284" rtlCol="0" anchor="ctr"/>
          <a:lstStyle/>
          <a:p>
            <a:pPr marL="0" marR="0" lvl="0" indent="0" algn="ctr" defTabSz="603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85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Open Sans" panose="020B0606030504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150" y="123825"/>
            <a:ext cx="8972550" cy="582295"/>
          </a:xfrm>
          <a:prstGeom prst="rect">
            <a:avLst/>
          </a:prstGeom>
          <a:noFill/>
        </p:spPr>
        <p:txBody>
          <a:bodyPr wrap="square" lIns="91366" tIns="45681" rIns="91366" bIns="45681" rtlCol="0">
            <a:spAutoFit/>
          </a:bodyPr>
          <a:lstStyle/>
          <a:p>
            <a:pPr lvl="0" algn="l" defTabSz="913765">
              <a:buClrTx/>
              <a:buSzTx/>
              <a:buFontTx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（三）思考与展望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AutoShap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99713" y="767492"/>
            <a:ext cx="9485706" cy="10238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CC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l="20434" t="19675" r="20108" b="21707"/>
          <a:stretch>
            <a:fillRect/>
          </a:stretch>
        </p:blipFill>
        <p:spPr>
          <a:xfrm>
            <a:off x="11264900" y="38100"/>
            <a:ext cx="735965" cy="70993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71500" y="105727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下一步系统研究：从模型验证到任务验证</a:t>
            </a:r>
            <a:endParaRPr sz="24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8002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原型开发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19375" y="18002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封装模型与GIS工具，建立结构化任务接口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19375" y="25527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" y="27336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过程检查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619375" y="27336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保存中间成果、状态与版本，检验异常恢复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619375" y="348615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19125" y="36671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619375" y="366712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建立修订留痕与反馈机制，分析常见错误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19375" y="4419600"/>
            <a:ext cx="8810625" cy="13335"/>
          </a:xfrm>
          <a:prstGeom prst="rect">
            <a:avLst/>
          </a:prstGeom>
          <a:solidFill>
            <a:srgbClr val="CFCFC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9125" y="460057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研究总结</a:t>
            </a:r>
            <a:endParaRPr sz="21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619375" y="4600575"/>
            <a:ext cx="8810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逐步深化领域适配和信息融合，再组织为可追溯制图任务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5800725"/>
            <a:ext cx="11087100" cy="4000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58578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模型效果与任务可靠性分别评价，形成可复核成果</a:t>
            </a:r>
            <a:endParaRPr sz="1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滑坡语义分割与视觉大模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64.xml><?xml version="1.0" encoding="utf-8"?>
<p:tagLst xmlns:p="http://schemas.openxmlformats.org/presentationml/2006/main">
  <p:tag name="KSO_WM_DIAGRAM_VIRTUALLY_FRAME" val="{&quot;height&quot;:432.0514960629921,&quot;left&quot;:116.40496062992126,&quot;top&quot;:77.54968503937008,&quot;width&quot;:795.9671653543309}"/>
</p:tagLst>
</file>

<file path=ppt/tags/tag65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66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67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68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69.xml><?xml version="1.0" encoding="utf-8"?>
<p:tagLst xmlns:p="http://schemas.openxmlformats.org/presentationml/2006/main">
  <p:tag name="KSO_WM_DIAGRAM_VIRTUALLY_FRAME" val="{&quot;height&quot;:432.0514960629921,&quot;left&quot;:116.40496062992126,&quot;top&quot;:77.54968503937008,&quot;width&quot;:795.9671653543309}"/>
</p:tagLst>
</file>

<file path=ppt/tags/tag70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1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2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3.xml><?xml version="1.0" encoding="utf-8"?>
<p:tagLst xmlns:p="http://schemas.openxmlformats.org/presentationml/2006/main">
  <p:tag name="KSO_WM_DIAGRAM_VIRTUALLY_FRAME" val="{&quot;height&quot;:432.0514960629921,&quot;left&quot;:116.40496062992126,&quot;top&quot;:77.54968503937008,&quot;width&quot;:795.9671653543309}"/>
</p:tagLst>
</file>

<file path=ppt/tags/tag74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5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6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7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8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79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80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81.xml><?xml version="1.0" encoding="utf-8"?>
<p:tagLst xmlns:p="http://schemas.openxmlformats.org/presentationml/2006/main">
  <p:tag name="KSO_WM_DIAGRAM_VIRTUALLY_FRAME" val="{&quot;height&quot;:446.15118110236216,&quot;left&quot;:116.40496062992126,&quot;top&quot;:63.45,&quot;width&quot;:860.7439704477316}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2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3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4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5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6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7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8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09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10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11.xml><?xml version="1.0" encoding="utf-8"?>
<p:tagLst xmlns:p="http://schemas.openxmlformats.org/presentationml/2006/main">
  <p:tag name="KSO_WM_DIAGRAM_VIRTUALLY_FRAME" val="{&quot;height&quot;:276,&quot;left&quot;:48.75,&quot;top&quot;:141.75,&quot;width&quot;:851.25}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4577</Words>
  <Application>WPS 演示</Application>
  <PresentationFormat>宽屏</PresentationFormat>
  <Paragraphs>811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Wingdings</vt:lpstr>
      <vt:lpstr>微软雅黑</vt:lpstr>
      <vt:lpstr>华文楷体</vt:lpstr>
      <vt:lpstr>Times New Roman</vt:lpstr>
      <vt:lpstr>黑体</vt:lpstr>
      <vt:lpstr>Open Sans</vt:lpstr>
      <vt:lpstr>Calibri</vt:lpstr>
      <vt:lpstr>等线</vt:lpstr>
      <vt:lpstr>Cambria Math</vt:lpstr>
      <vt:lpstr>PingFang SC</vt:lpstr>
      <vt:lpstr>Noto Sans SC</vt:lpstr>
      <vt:lpstr>Calibri</vt:lpstr>
      <vt:lpstr>Georgia</vt:lpstr>
      <vt:lpstr>Arial Unicode MS</vt:lpstr>
      <vt:lpstr>Open Sans</vt:lpstr>
      <vt:lpstr>Saturday Sans Regular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</cp:lastModifiedBy>
  <cp:revision>362</cp:revision>
  <dcterms:created xsi:type="dcterms:W3CDTF">2026-05-21T11:53:00Z</dcterms:created>
  <dcterms:modified xsi:type="dcterms:W3CDTF">2026-10-09T13:42:06Z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99D087DA8DD7490084DAFBE79D5AB33C_13</vt:lpwstr>
  </property>
</Properties>
</file>