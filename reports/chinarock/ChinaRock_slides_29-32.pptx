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579" r:id="rId32"/>
    <p:sldId id="580" r:id="rId33"/>
    <p:sldId id="581" r:id="rId34"/>
    <p:sldId id="582" r:id="rId35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3" userDrawn="1">
          <p15:clr>
            <a:srgbClr val="A4A3A4"/>
          </p15:clr>
        </p15:guide>
        <p15:guide id="2" pos="394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dn2018@126.com" initials="z" lastIdx="1" clrIdx="0"/>
  <p:cmAuthor id="1" name="Administrator" initials="A" lastIdx="1" clrIdx="0"/>
  <p:cmAuthor id="2" name="作者" initials="A" lastIdx="0" clrIdx="1"/>
  <p:cmAuthor id="3" name="Nick Smith" initials="NS" lastIdx="1" clrIdx="2"/>
  <p:cmAuthor id="4" name="15327" initials="1" lastIdx="1" clrIdx="3"/>
  <p:cmAuthor id="5" name="Deng Wenhao" initials="DW" lastIdx="20" clrIdx="4"/>
  <p:cmAuthor id="6" name="Weixing Zhang" initials="WZ" lastIdx="4" clrIdx="5"/>
  <p:cmAuthor id="8" name="Surface" initials="S" lastIdx="1" clrIdx="7"/>
  <p:cmAuthor id="9" name="L" initials="xlliu" lastIdx="0" clrIdx="8"/>
  <p:cmAuthor id="10" name="Jie Luo" initials="JL" lastIdx="0" clrIdx="9"/>
  <p:cmAuthor id="11" name="J" initials="J" lastIdx="0" clrIdx="10"/>
  <p:cmAuthor id="12" name="Windows 用户" initials="W用" lastIdx="0" clrIdx="11"/>
  <p:cmAuthor id="13" name="Hanaga" initials="H" lastIdx="0" clrIdx="12"/>
  <p:cmAuthor id="14" name="chengyuqing" initials="c" lastIdx="0" clrIdx="13"/>
  <p:cmAuthor id="15" name="zhang" initials="z" lastIdx="0" clrIdx="14"/>
  <p:cmAuthor id="16" name="Chao Zhao" initials="Z" lastIdx="0" clrIdx="1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9B887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43"/>
        <p:guide pos="394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ableStyles" Target="tableStyles.xml"/><Relationship Id="rId46" Type="http://schemas.openxmlformats.org/officeDocument/2006/relationships/commentAuthors" Target="comment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6905979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6905979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【场景与问题】</a:t>
            </a:r>
          </a:p>
          <a:p>
            <a:r>
              <a:t>主线：通用视觉大模型从基础概念，经领域适配、自动提示、无外部提示推理和语义与变化协同，最终封装成制图智能体。本页承接第28页，说明封装的必要性，而非新增一种分割模型。</a:t>
            </a:r>
          </a:p>
          <a:p>
            <a:r>
              <a:t>已有模型可以从灾后影像得到概率图和掩膜，但区域滑坡制图还需影像检查、切片拼接、空间矢量化、质量复核和成果生成。智能体的研究问题是如何把这些能力组织成可检查的任务流程。</a:t>
            </a:r>
          </a:p>
          <a:p>
            <a:r>
              <a:t>真实影像与预测掩膜直接取自原报告第27页北京事件实验，仅展示单个样本，不代表区域制图已完成。</a:t>
            </a:r>
          </a:p>
          <a:p>
            <a:r>
              <a:t>版式说明：尚未获得杭州交流PPT；当前采用与原报告协调的黑、红、蓝学术汇报版式。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【改进的方法：智能体封装方案，非已完成系统】</a:t>
            </a:r>
          </a:p>
          <a:p>
            <a:r>
              <a:t>1. 用户提供研究区域、事件时间、输入数据及成果要求。智能体生成结构化任务计划，检查输入条件并路由到适合的滑坡模型。</a:t>
            </a:r>
          </a:p>
          <a:p>
            <a:r>
              <a:t>2. 遥感预处理工具检查覆盖范围、坐标系、波段和分辨率，按需配准、归一化与切片。</a:t>
            </a:r>
          </a:p>
          <a:p>
            <a:r>
              <a:t>3. 分割工具加载登记的模型权重、输入规范与已有验证条件，输出概率图和掩膜。数值计算与空间计算由专业工具执行。</a:t>
            </a:r>
          </a:p>
          <a:p>
            <a:r>
              <a:t>4. GIS工具拼接、矢量化并计算面积；质检步骤检查异常斑块、漏检、误检和边界，必要时人工复核。</a:t>
            </a:r>
          </a:p>
          <a:p>
            <a:r>
              <a:t>5. 各步骤记录输入、参数、模型版本、输出和状态；失败后从成功检查点续跑，保留人工修订记录。</a:t>
            </a:r>
          </a:p>
          <a:p>
            <a:r>
              <a:t>开发与验证目标是任务可追溯、接口匹配、异常可恢复。原报告没有给出已部署智能体或端到端任务验证结果，因此本页按拟议架构呈现，不宣称这些功能已实现。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【实验结果展示：已有模型证据】</a:t>
            </a:r>
          </a:p>
          <a:p>
            <a:r>
              <a:t>数据来源：用户提供的China Rock报告第27页；北京“23·7”暴雨场景，SCF-SAM采用配准双时相输入。展示的灾后影像、真实标签和模型预测均复用原报告中的同一样本。</a:t>
            </a:r>
          </a:p>
          <a:p>
            <a:r>
              <a:t>原报告给出的SCF-SAM指标为F1 71.5%、滑坡IoU 55.7%、mIoU 74.8%；mIoU不能改称滑坡IoU，也不等价于区域制图任务成功率。图中仅突出mIoU，其余指标留作讲解。</a:t>
            </a:r>
          </a:p>
          <a:p>
            <a:r>
              <a:t>本页支撑的是可封装模型的分割能力，不是智能体端到端效果。原报告没有智能体任务完成率、耗时、人工修改量或恢复成功率，不能虚构这些结果。</a:t>
            </a:r>
          </a:p>
          <a:p>
            <a:r>
              <a:t>后续系统实验建议：固定代表性任务与输入，分别记录制图成功率、端到端耗时、复核修改量、异常恢复和成果一致性，并保留日志。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【使用条件与局限性讨论】</a:t>
            </a:r>
          </a:p>
          <a:p>
            <a:r>
              <a:t>单时相输入：LS-FPSAM利用频率残差提示；AB-SAM在训练阶段使用辅助框与非对称监督，推理阶段只保留灾后影像的无外部提示主分支。AB-SAM的无提示推理不意味着训练时也不需要双时相信息或真实标签。</a:t>
            </a:r>
          </a:p>
          <a:p>
            <a:r>
              <a:t>双时相输入：LF-SAM由变化信息自动生成候选区域；SCF-SAM将语义与变化特征门控融合。要求配准、网格一致、覆盖完整及波段与分辨率匹配。LF-SAM关闭MC-ROI的单时相路径原报告亦有提及，但本页突出四项研究的主要适用路径。</a:t>
            </a:r>
          </a:p>
          <a:p>
            <a:r>
              <a:t>只有灾后影像可估计可见滑坡范围；认定本次事件“新增”滑坡需要灾前灾后证据，不能将现状分割直接等同于事件新增变化。</a:t>
            </a:r>
          </a:p>
          <a:p>
            <a:r>
              <a:t>新区域或新事件：先在小范围独立验证对象检出、边界及背景误检，再决定模型和阈值。地表域偏移、小目标、破碎边界、云影、配准误差和非滑坡变化仍限制可靠性。</a:t>
            </a:r>
          </a:p>
          <a:p>
            <a:r>
              <a:t>交付前保留人工质量复核；智能体负责编排与留痕，不承担无证据的自动结论。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146.xml"/><Relationship Id="rId2" Type="http://schemas.openxmlformats.org/officeDocument/2006/relationships/tags" Target="../tags/tag147.xml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29.xml"/><Relationship Id="rId6" Type="http://schemas.openxmlformats.org/officeDocument/2006/relationships/image" Target="../media/image25.png"/><Relationship Id="rId7" Type="http://schemas.openxmlformats.org/officeDocument/2006/relationships/image" Target="../media/image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148.xml"/><Relationship Id="rId2" Type="http://schemas.openxmlformats.org/officeDocument/2006/relationships/tags" Target="../tags/tag149.xml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150.xml"/><Relationship Id="rId2" Type="http://schemas.openxmlformats.org/officeDocument/2006/relationships/tags" Target="../tags/tag151.xml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1.xml"/><Relationship Id="rId6" Type="http://schemas.openxmlformats.org/officeDocument/2006/relationships/image" Target="../media/image25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152.xml"/><Relationship Id="rId2" Type="http://schemas.openxmlformats.org/officeDocument/2006/relationships/tags" Target="../tags/tag153.xml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2.xml"/><Relationship Id="rId6" Type="http://schemas.openxmlformats.org/officeDocument/2006/relationships/image" Target="../media/image25.png"/></Relationships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场景与问题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61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71C23"/>
                </a:solidFill>
                <a:latin typeface="微软雅黑"/>
                <a:ea typeface="微软雅黑"/>
                <a:cs typeface="微软雅黑"/>
              </a:rPr>
              <a:t>从分割掩膜到区域制图</a:t>
            </a:r>
          </a:p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283464"/>
            <a:ext cx="603504" cy="603504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02920" y="1709928"/>
            <a:ext cx="11183112" cy="0"/>
          </a:xfrm>
          <a:prstGeom prst="line">
            <a:avLst/>
          </a:prstGeom>
          <a:ln w="127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691640"/>
            <a:ext cx="1005840" cy="36576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364224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64808"/>
            <a:ext cx="10314432" cy="0"/>
          </a:xfrm>
          <a:prstGeom prst="line">
            <a:avLst/>
          </a:prstGeom>
          <a:ln w="762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21207" y="1975104"/>
            <a:ext cx="1700784" cy="49377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1993392"/>
            <a:ext cx="170078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基础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58568" y="2121408"/>
            <a:ext cx="118872" cy="137160"/>
          </a:xfrm>
          <a:prstGeom prst="rightArrow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14016" y="1975104"/>
            <a:ext cx="1700784" cy="49377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4016" y="1993392"/>
            <a:ext cx="170078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领域适配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51376" y="2121408"/>
            <a:ext cx="118872" cy="137160"/>
          </a:xfrm>
          <a:prstGeom prst="rightArrow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6824" y="1975104"/>
            <a:ext cx="1700784" cy="49377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1993392"/>
            <a:ext cx="170078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自动提示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44183" y="2121408"/>
            <a:ext cx="118872" cy="137160"/>
          </a:xfrm>
          <a:prstGeom prst="rightArrow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975104"/>
            <a:ext cx="1700784" cy="49377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1993392"/>
            <a:ext cx="170078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无提示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36992" y="2121408"/>
            <a:ext cx="118872" cy="137160"/>
          </a:xfrm>
          <a:prstGeom prst="rightArrow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1975104"/>
            <a:ext cx="1700784" cy="49377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1993392"/>
            <a:ext cx="170078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语义变化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829800" y="2121408"/>
            <a:ext cx="118872" cy="137160"/>
          </a:xfrm>
          <a:prstGeom prst="rightArrow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85248" y="1975104"/>
            <a:ext cx="1700784" cy="493776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1993392"/>
            <a:ext cx="170078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7" y="2779776"/>
            <a:ext cx="5989320" cy="3054096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3364992"/>
            <a:ext cx="1947672" cy="1947672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9080" y="3364992"/>
            <a:ext cx="1947672" cy="19476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59536" y="2880360"/>
            <a:ext cx="1947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影像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2880360"/>
            <a:ext cx="1947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掩膜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136392" y="4178808"/>
            <a:ext cx="603504" cy="256032"/>
          </a:xfrm>
          <a:prstGeom prst="rightArrow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6766560" y="4178808"/>
            <a:ext cx="585216" cy="256032"/>
          </a:xfrm>
          <a:prstGeom prst="rightArrow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35240" y="3429000"/>
            <a:ext cx="11155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82127" y="3666744"/>
            <a:ext cx="265176" cy="265176"/>
          </a:xfrm>
          <a:prstGeom prst="rect">
            <a:avLst/>
          </a:prstGeom>
          <a:solidFill>
            <a:srgbClr val="F1F5FA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93023" y="3666744"/>
            <a:ext cx="265176" cy="265176"/>
          </a:xfrm>
          <a:prstGeom prst="rect">
            <a:avLst/>
          </a:prstGeom>
          <a:solidFill>
            <a:srgbClr val="F1F5FA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82127" y="3977639"/>
            <a:ext cx="265176" cy="265176"/>
          </a:xfrm>
          <a:prstGeom prst="rect">
            <a:avLst/>
          </a:prstGeom>
          <a:solidFill>
            <a:srgbClr val="F1F5FA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93023" y="3977639"/>
            <a:ext cx="265176" cy="265176"/>
          </a:xfrm>
          <a:prstGeom prst="rect">
            <a:avLst/>
          </a:prstGeom>
          <a:solidFill>
            <a:srgbClr val="F1F5FA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0375" y="4736592"/>
            <a:ext cx="12252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拼接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42832" y="3429000"/>
            <a:ext cx="11155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9153144" y="3712463"/>
            <a:ext cx="676656" cy="466345"/>
          </a:xfrm>
          <a:custGeom>
            <a:avLst/>
            <a:gdLst/>
            <a:ahLst/>
            <a:cxnLst/>
            <a:rect l="l" t="t" r="r" b="b"/>
            <a:pathLst>
              <a:path w="676656" h="466345">
                <a:moveTo>
                  <a:pt x="0" y="466345"/>
                </a:moveTo>
                <a:lnTo>
                  <a:pt x="146304" y="0"/>
                </a:lnTo>
                <a:lnTo>
                  <a:pt x="576071" y="128017"/>
                </a:lnTo>
                <a:lnTo>
                  <a:pt x="676656" y="438913"/>
                </a:lnTo>
                <a:lnTo>
                  <a:pt x="0" y="466345"/>
                </a:lnTo>
                <a:close/>
              </a:path>
            </a:pathLst>
          </a:custGeom>
          <a:solidFill>
            <a:srgbClr val="F1F5FA"/>
          </a:solidFill>
          <a:ln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87967" y="4736592"/>
            <a:ext cx="12252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矢量化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50424" y="3429000"/>
            <a:ext cx="11155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0515599" y="3968496"/>
            <a:ext cx="210312" cy="201167"/>
          </a:xfrm>
          <a:prstGeom prst="line">
            <a:avLst/>
          </a:prstGeom>
          <a:ln w="38100">
            <a:solidFill>
              <a:srgbClr val="BC20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725911" y="3721608"/>
            <a:ext cx="374904" cy="448055"/>
          </a:xfrm>
          <a:prstGeom prst="line">
            <a:avLst/>
          </a:prstGeom>
          <a:ln w="38100">
            <a:solidFill>
              <a:srgbClr val="BC20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195559" y="4736592"/>
            <a:ext cx="12252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复核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5495544"/>
            <a:ext cx="41605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补齐制图工具链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改进的方法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61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71C23"/>
                </a:solidFill>
                <a:latin typeface="微软雅黑"/>
                <a:ea typeface="微软雅黑"/>
                <a:cs typeface="微软雅黑"/>
              </a:rPr>
              <a:t>智能体编排，专业工具计算</a:t>
            </a:r>
          </a:p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283464"/>
            <a:ext cx="603504" cy="603504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02920" y="1709928"/>
            <a:ext cx="11183112" cy="0"/>
          </a:xfrm>
          <a:prstGeom prst="line">
            <a:avLst/>
          </a:prstGeom>
          <a:ln w="127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691640"/>
            <a:ext cx="1005840" cy="36576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364224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64808"/>
            <a:ext cx="10314432" cy="0"/>
          </a:xfrm>
          <a:prstGeom prst="line">
            <a:avLst/>
          </a:prstGeom>
          <a:ln w="762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270248" y="1965960"/>
            <a:ext cx="3657600" cy="594360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2011680"/>
            <a:ext cx="365760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区域＋事件＋成果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9048" y="2560320"/>
            <a:ext cx="0" cy="320040"/>
          </a:xfrm>
          <a:prstGeom prst="line">
            <a:avLst/>
          </a:prstGeom>
          <a:ln w="25400">
            <a:solidFill>
              <a:srgbClr val="123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087368" y="2880360"/>
            <a:ext cx="4023360" cy="987552"/>
          </a:xfrm>
          <a:prstGeom prst="rect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87368" y="301752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任务编排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9048" y="3867912"/>
            <a:ext cx="0" cy="384048"/>
          </a:xfrm>
          <a:prstGeom prst="line">
            <a:avLst/>
          </a:prstGeom>
          <a:ln w="25400">
            <a:solidFill>
              <a:srgbClr val="123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810512" y="4251960"/>
            <a:ext cx="8577072" cy="0"/>
          </a:xfrm>
          <a:prstGeom prst="line">
            <a:avLst/>
          </a:prstGeom>
          <a:ln w="25400">
            <a:solidFill>
              <a:srgbClr val="123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10512" y="4251960"/>
            <a:ext cx="0" cy="374904"/>
          </a:xfrm>
          <a:prstGeom prst="line">
            <a:avLst/>
          </a:prstGeom>
          <a:ln w="25400">
            <a:solidFill>
              <a:srgbClr val="123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21207" y="4626864"/>
            <a:ext cx="2578608" cy="841248"/>
          </a:xfrm>
          <a:prstGeom prst="rect">
            <a:avLst/>
          </a:prstGeom>
          <a:solidFill>
            <a:srgbClr val="F1F5FA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7" y="4626864"/>
            <a:ext cx="50292" cy="841248"/>
          </a:xfrm>
          <a:prstGeom prst="rect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4754880"/>
            <a:ext cx="23591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遥感预处理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72583" y="4251960"/>
            <a:ext cx="0" cy="374904"/>
          </a:xfrm>
          <a:prstGeom prst="line">
            <a:avLst/>
          </a:prstGeom>
          <a:ln w="25400">
            <a:solidFill>
              <a:srgbClr val="123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383279" y="4626864"/>
            <a:ext cx="2578608" cy="841248"/>
          </a:xfrm>
          <a:prstGeom prst="rect">
            <a:avLst/>
          </a:prstGeom>
          <a:solidFill>
            <a:srgbClr val="F1F5FA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3279" y="4626864"/>
            <a:ext cx="50292" cy="841248"/>
          </a:xfrm>
          <a:prstGeom prst="rect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3008" y="4754880"/>
            <a:ext cx="23591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滑坡分割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34656" y="4251960"/>
            <a:ext cx="0" cy="374904"/>
          </a:xfrm>
          <a:prstGeom prst="line">
            <a:avLst/>
          </a:prstGeom>
          <a:ln w="25400">
            <a:solidFill>
              <a:srgbClr val="123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245352" y="4626864"/>
            <a:ext cx="2578608" cy="841248"/>
          </a:xfrm>
          <a:prstGeom prst="rect">
            <a:avLst/>
          </a:prstGeom>
          <a:solidFill>
            <a:srgbClr val="F1F5FA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45352" y="4626864"/>
            <a:ext cx="50292" cy="841248"/>
          </a:xfrm>
          <a:prstGeom prst="rect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754880"/>
            <a:ext cx="23591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GIS制图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396728" y="4251960"/>
            <a:ext cx="0" cy="374904"/>
          </a:xfrm>
          <a:prstGeom prst="line">
            <a:avLst/>
          </a:prstGeom>
          <a:ln w="25400">
            <a:solidFill>
              <a:srgbClr val="123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107424" y="4626864"/>
            <a:ext cx="2578608" cy="841248"/>
          </a:xfrm>
          <a:prstGeom prst="rect">
            <a:avLst/>
          </a:prstGeom>
          <a:solidFill>
            <a:srgbClr val="F1F5FA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07424" y="4626864"/>
            <a:ext cx="50292" cy="841248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17152" y="4754880"/>
            <a:ext cx="23591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质量复核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7" y="5779008"/>
            <a:ext cx="11146536" cy="475488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797296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保留日志，支持续跑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61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71C23"/>
                </a:solidFill>
                <a:latin typeface="微软雅黑"/>
                <a:ea typeface="微软雅黑"/>
                <a:cs typeface="微软雅黑"/>
              </a:rPr>
              <a:t>分割已有证据，制图仍待实测</a:t>
            </a:r>
          </a:p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283464"/>
            <a:ext cx="603504" cy="603504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02920" y="1709928"/>
            <a:ext cx="11183112" cy="0"/>
          </a:xfrm>
          <a:prstGeom prst="line">
            <a:avLst/>
          </a:prstGeom>
          <a:ln w="127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691640"/>
            <a:ext cx="1005840" cy="36576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364224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64808"/>
            <a:ext cx="10314432" cy="0"/>
          </a:xfrm>
          <a:prstGeom prst="line">
            <a:avLst/>
          </a:prstGeom>
          <a:ln w="762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1207" y="1965960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北京暴雨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2651760"/>
            <a:ext cx="22677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影像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7" y="3227832"/>
            <a:ext cx="2313432" cy="2313432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7" y="3250692"/>
            <a:ext cx="2267712" cy="22677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63239" y="2651760"/>
            <a:ext cx="22677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真值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40379" y="3227832"/>
            <a:ext cx="2313432" cy="2313432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3239" y="3250692"/>
            <a:ext cx="2267712" cy="22677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05272" y="2651760"/>
            <a:ext cx="22677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预测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82412" y="3227832"/>
            <a:ext cx="2313432" cy="2313432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5272" y="3250692"/>
            <a:ext cx="2267712" cy="2267712"/>
          </a:xfrm>
          <a:prstGeom prst="rect">
            <a:avLst/>
          </a:prstGeom>
        </p:spPr>
      </p:pic>
      <p:cxnSp>
        <p:nvCxnSpPr>
          <p:cNvPr id="20" name="Connector 19"/>
          <p:cNvCxnSpPr/>
          <p:nvPr/>
        </p:nvCxnSpPr>
        <p:spPr>
          <a:xfrm>
            <a:off x="8165592" y="2377440"/>
            <a:ext cx="0" cy="3182112"/>
          </a:xfrm>
          <a:prstGeom prst="line">
            <a:avLst/>
          </a:prstGeom>
          <a:ln w="1778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540496" y="2596896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SCF-SAM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3236976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71C23"/>
                </a:solidFill>
                <a:latin typeface="微软雅黑"/>
                <a:ea typeface="微软雅黑"/>
                <a:cs typeface="微软雅黑"/>
              </a:rPr>
              <a:t>mIoU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822191"/>
            <a:ext cx="3246120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74.8%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7" y="5806440"/>
            <a:ext cx="11146536" cy="466344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815584"/>
            <a:ext cx="1078077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模型精度 ≠ 系统可靠性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使用条件与局限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561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71C23"/>
                </a:solidFill>
                <a:latin typeface="微软雅黑"/>
                <a:ea typeface="微软雅黑"/>
                <a:cs typeface="微软雅黑"/>
              </a:rPr>
              <a:t>输入匹配，复核交付</a:t>
            </a:r>
          </a:p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283464"/>
            <a:ext cx="603504" cy="603504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02920" y="1709928"/>
            <a:ext cx="11183112" cy="0"/>
          </a:xfrm>
          <a:prstGeom prst="line">
            <a:avLst/>
          </a:prstGeom>
          <a:ln w="127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691640"/>
            <a:ext cx="1005840" cy="36576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1672" y="6364224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64808"/>
            <a:ext cx="10314432" cy="0"/>
          </a:xfrm>
          <a:prstGeom prst="line">
            <a:avLst/>
          </a:prstGeom>
          <a:ln w="762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21207" y="2011680"/>
            <a:ext cx="5413248" cy="3410712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7" y="2011680"/>
            <a:ext cx="5413248" cy="59436"/>
          </a:xfrm>
          <a:prstGeom prst="rect">
            <a:avLst/>
          </a:prstGeom>
          <a:solidFill>
            <a:srgbClr val="12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" y="2313432"/>
            <a:ext cx="3383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单时相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7" y="3099816"/>
            <a:ext cx="1371600" cy="1371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96312" y="3191256"/>
            <a:ext cx="3154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1C23"/>
                </a:solidFill>
                <a:latin typeface="微软雅黑"/>
                <a:ea typeface="微软雅黑"/>
                <a:cs typeface="微软雅黑"/>
              </a:rPr>
              <a:t>灾后影像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" y="4690872"/>
            <a:ext cx="482803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频率／边界适配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2011680"/>
            <a:ext cx="5413248" cy="3410712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2011680"/>
            <a:ext cx="5413248" cy="59436"/>
          </a:xfrm>
          <a:prstGeom prst="rect">
            <a:avLst/>
          </a:prstGeom>
          <a:solidFill>
            <a:srgbClr val="BC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313432"/>
            <a:ext cx="3383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双时相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65392" y="3209544"/>
            <a:ext cx="126187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57416" y="3008376"/>
            <a:ext cx="126187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2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967728" y="3337560"/>
            <a:ext cx="832103" cy="0"/>
          </a:xfrm>
          <a:prstGeom prst="line">
            <a:avLst/>
          </a:prstGeom>
          <a:ln w="254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67728" y="3666744"/>
            <a:ext cx="832103" cy="0"/>
          </a:xfrm>
          <a:prstGeom prst="line">
            <a:avLst/>
          </a:prstGeom>
          <a:ln w="254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67728" y="3995928"/>
            <a:ext cx="832103" cy="0"/>
          </a:xfrm>
          <a:prstGeom prst="line">
            <a:avLst/>
          </a:prstGeom>
          <a:ln w="254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0" y="3191256"/>
            <a:ext cx="3154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1C23"/>
                </a:solidFill>
                <a:latin typeface="微软雅黑"/>
                <a:ea typeface="微软雅黑"/>
                <a:cs typeface="微软雅黑"/>
              </a:rPr>
              <a:t>配准影像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690872"/>
            <a:ext cx="482803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23566"/>
                </a:solidFill>
                <a:latin typeface="微软雅黑"/>
                <a:ea typeface="微软雅黑"/>
                <a:cs typeface="微软雅黑"/>
              </a:rPr>
              <a:t>候选提示／语义变化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7" y="5733288"/>
            <a:ext cx="54132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C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7" y="5760720"/>
            <a:ext cx="5413248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新增需双时相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54496" y="5733288"/>
            <a:ext cx="54132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C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5760720"/>
            <a:ext cx="5413248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BC2026"/>
                </a:solidFill>
                <a:latin typeface="微软雅黑"/>
                <a:ea typeface="微软雅黑"/>
                <a:cs typeface="微软雅黑"/>
              </a:rPr>
              <a:t>新区域先验证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4577</Words>
  <Application>WPS 演示</Application>
  <PresentationFormat>宽屏</PresentationFormat>
  <Paragraphs>811</Paragraphs>
  <Slides>38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8" baseType="lpstr">
      <vt:lpstr>Arial</vt:lpstr>
      <vt:lpstr>宋体</vt:lpstr>
      <vt:lpstr>Wingdings</vt:lpstr>
      <vt:lpstr>Wingdings</vt:lpstr>
      <vt:lpstr>微软雅黑</vt:lpstr>
      <vt:lpstr>华文楷体</vt:lpstr>
      <vt:lpstr>Times New Roman</vt:lpstr>
      <vt:lpstr>黑体</vt:lpstr>
      <vt:lpstr>Open Sans</vt:lpstr>
      <vt:lpstr>Calibri</vt:lpstr>
      <vt:lpstr>等线</vt:lpstr>
      <vt:lpstr>Cambria Math</vt:lpstr>
      <vt:lpstr>PingFang SC</vt:lpstr>
      <vt:lpstr>Noto Sans SC</vt:lpstr>
      <vt:lpstr>Calibri</vt:lpstr>
      <vt:lpstr>Georgia</vt:lpstr>
      <vt:lpstr>Arial Unicode MS</vt:lpstr>
      <vt:lpstr>Open Sans</vt:lpstr>
      <vt:lpstr>Saturday Sans Regular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T</cp:lastModifiedBy>
  <cp:revision>362</cp:revision>
  <dcterms:created xsi:type="dcterms:W3CDTF">2026-05-21T11:53:00Z</dcterms:created>
  <dcterms:modified xsi:type="dcterms:W3CDTF">2026-10-09T13:42:06Z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99D087DA8DD7490084DAFBE79D5AB33C_13</vt:lpwstr>
  </property>
</Properties>
</file>